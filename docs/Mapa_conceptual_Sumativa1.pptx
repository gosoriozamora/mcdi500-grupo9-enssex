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3e63ff7ae44668" /><Relationship Type="http://schemas.openxmlformats.org/officeDocument/2006/relationships/extended-properties" Target="/docProps/app.xml" Id="Rc659c0b9667848fb" /><Relationship Type="http://schemas.openxmlformats.org/officeDocument/2006/relationships/officeDocument" Target="/ppt/presentation.xml" Id="Rb29b4f2e40bb4d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f88e1fddba4ab7"/>
  </p:sldMasterIdLst>
  <p:notesMasterIdLst>
    <p:notesMasterId xmlns:r="http://schemas.openxmlformats.org/officeDocument/2006/relationships" r:id="Rae4c9dab7af7463c"/>
  </p:notesMasterIdLst>
  <p:sldIdLst>
    <p:sldId xmlns:r="http://schemas.openxmlformats.org/officeDocument/2006/relationships" id="256" r:id="R737eca8d5ce046c6"/>
    <p:sldId xmlns:r="http://schemas.openxmlformats.org/officeDocument/2006/relationships" id="257" r:id="R8ad73b7c73884d2f"/>
    <p:sldId xmlns:r="http://schemas.openxmlformats.org/officeDocument/2006/relationships" id="258" r:id="R1d8c9eb0f3e148b2"/>
    <p:sldId xmlns:r="http://schemas.openxmlformats.org/officeDocument/2006/relationships" id="259" r:id="Re3b2bd25a54d46b5"/>
    <p:sldId xmlns:r="http://schemas.openxmlformats.org/officeDocument/2006/relationships" id="260" r:id="R215c454d243c4606"/>
    <p:sldId xmlns:r="http://schemas.openxmlformats.org/officeDocument/2006/relationships" id="261" r:id="R8756308f7a9c489b"/>
    <p:sldId xmlns:r="http://schemas.openxmlformats.org/officeDocument/2006/relationships" id="262" r:id="Ree151c315f474380"/>
    <p:sldId xmlns:r="http://schemas.openxmlformats.org/officeDocument/2006/relationships" id="263" r:id="Rb7f388ae241948b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e30c63555c4d9e" /><Relationship Type="http://schemas.openxmlformats.org/officeDocument/2006/relationships/slideMaster" Target="/ppt/slideMasters/slideMaster1.xml" Id="Rdbf88e1fddba4ab7" /><Relationship Type="http://schemas.openxmlformats.org/officeDocument/2006/relationships/notesMaster" Target="/ppt/notesMasters/notesMaster1.xml" Id="Rae4c9dab7af7463c" /><Relationship Type="http://schemas.openxmlformats.org/officeDocument/2006/relationships/presProps" Target="/ppt/presProps.xml" Id="Re8917e0d714b4088" /><Relationship Type="http://schemas.openxmlformats.org/officeDocument/2006/relationships/tableStyles" Target="/ppt/tableStyles.xml" Id="R616384ac142a4107" /><Relationship Type="http://schemas.openxmlformats.org/officeDocument/2006/relationships/slide" Target="/ppt/slides/slide1.xml" Id="R737eca8d5ce046c6" /><Relationship Type="http://schemas.openxmlformats.org/officeDocument/2006/relationships/slide" Target="/ppt/slides/slide2.xml" Id="R8ad73b7c73884d2f" /><Relationship Type="http://schemas.openxmlformats.org/officeDocument/2006/relationships/slide" Target="/ppt/slides/slide3.xml" Id="R1d8c9eb0f3e148b2" /><Relationship Type="http://schemas.openxmlformats.org/officeDocument/2006/relationships/slide" Target="/ppt/slides/slide4.xml" Id="Re3b2bd25a54d46b5" /><Relationship Type="http://schemas.openxmlformats.org/officeDocument/2006/relationships/slide" Target="/ppt/slides/slide5.xml" Id="R215c454d243c4606" /><Relationship Type="http://schemas.openxmlformats.org/officeDocument/2006/relationships/slide" Target="/ppt/slides/slide6.xml" Id="R8756308f7a9c489b" /><Relationship Type="http://schemas.openxmlformats.org/officeDocument/2006/relationships/slide" Target="/ppt/slides/slide7.xml" Id="Ree151c315f474380" /><Relationship Type="http://schemas.openxmlformats.org/officeDocument/2006/relationships/slide" Target="/ppt/slides/slide8.xml" Id="Rb7f388ae241948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9583e6f03446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6e5e72923f4896" /><Relationship Type="http://schemas.openxmlformats.org/officeDocument/2006/relationships/notesMaster" Target="/ppt/notesMasters/notesMaster1.xml" Id="Rc82292a7c87540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5f91557ec9476c" /><Relationship Type="http://schemas.openxmlformats.org/officeDocument/2006/relationships/notesMaster" Target="/ppt/notesMasters/notesMaster1.xml" Id="Rd242c82802a648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2bda9dcd33486f" /><Relationship Type="http://schemas.openxmlformats.org/officeDocument/2006/relationships/notesMaster" Target="/ppt/notesMasters/notesMaster1.xml" Id="R6d37dffd926240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d483e7f5604d5e" /><Relationship Type="http://schemas.openxmlformats.org/officeDocument/2006/relationships/notesMaster" Target="/ppt/notesMasters/notesMaster1.xml" Id="R0dbaba4b2a984b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3e944d63b44f42" /><Relationship Type="http://schemas.openxmlformats.org/officeDocument/2006/relationships/notesMaster" Target="/ppt/notesMasters/notesMaster1.xml" Id="R19f38000a81b4e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484ca4f5f24062" /><Relationship Type="http://schemas.openxmlformats.org/officeDocument/2006/relationships/notesMaster" Target="/ppt/notesMasters/notesMaster1.xml" Id="R52092800a28742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0c8fa3e9fb41c3" /><Relationship Type="http://schemas.openxmlformats.org/officeDocument/2006/relationships/notesMaster" Target="/ppt/notesMasters/notesMaster1.xml" Id="R186bec0595b843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aa89f7d310475c" /><Relationship Type="http://schemas.openxmlformats.org/officeDocument/2006/relationships/notesMaster" Target="/ppt/notesMasters/notesMaster1.xml" Id="R12e76ec4cc7c4f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datos: Ministerio de Salud, ENSSEX 2022–2023. https://datos.gob.cl/dataset/encuesta-nacional-de-salud-sexualidad-y-genero-enssex-2022-2023</a:t>
            </a:r>
          </a:p>
          <a:p xmlns:a="http://schemas.openxmlformats.org/drawingml/2006/main">
            <a:r>
              <a:t>Repositorio: https://github.com/gosoriozamora/mcdi500-grupo9-enssex</a:t>
            </a:r>
          </a:p>
          <a:p xmlns:a="http://schemas.openxmlformats.org/drawingml/2006/main">
            <a:r>
              <a:t>Revisión técnica contrastada: 3e162f7.</a:t>
            </a:r>
          </a:p>
          <a:p xmlns:a="http://schemas.openxmlformats.org/drawingml/2006/main">
            <a:r>
              <a:t>Mapa actualizado de la Formativa 1. La exploración inicial de estructura también está presente en F1; la selección y transformación material se ejecutan en F2. La evaluación posterior no sustituye la validación técnica ya completada en F2. Se preservan los dos retornos iterativos de la planificación.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datos: Ministerio de Salud, ENSSEX 2022–2023. https://datos.gob.cl/dataset/encuesta-nacional-de-salud-sexualidad-y-genero-enssex-2022-2023</a:t>
            </a:r>
          </a:p>
          <a:p xmlns:a="http://schemas.openxmlformats.org/drawingml/2006/main">
            <a:r>
              <a:t>Repositorio: https://github.com/gosoriozamora/mcdi500-grupo9-enssex</a:t>
            </a:r>
          </a:p>
          <a:p xmlns:a="http://schemas.openxmlformats.org/drawingml/2006/main">
            <a:r>
              <a:t>Revisión técnica contrastada: 3e162f7.</a:t>
            </a:r>
          </a:p>
          <a:p xmlns:a="http://schemas.openxmlformats.org/drawingml/2006/main">
            <a:r>
              <a:t>Evidencias: F1/notebooks/F1_Definicion.ipynb; F2/docs/Seleccion_y_justificacion_variables_F2.md; F2/docs/Diccionario_procesado_F2.md; F2/docs/esquema_variables_F2.json. p93=9 e ítems P9=9 corresponden a no respuesta codificada y no son respuestas válidas de las escalas.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datos: Ministerio de Salud, ENSSEX 2022–2023. https://datos.gob.cl/dataset/encuesta-nacional-de-salud-sexualidad-y-genero-enssex-2022-2023</a:t>
            </a:r>
          </a:p>
          <a:p xmlns:a="http://schemas.openxmlformats.org/drawingml/2006/main">
            <a:r>
              <a:t>Repositorio: https://github.com/gosoriozamora/mcdi500-grupo9-enssex</a:t>
            </a:r>
          </a:p>
          <a:p xmlns:a="http://schemas.openxmlformats.org/drawingml/2006/main">
            <a:r>
              <a:t>Revisión técnica contrastada: 3e162f7.</a:t>
            </a:r>
          </a:p>
          <a:p xmlns:a="http://schemas.openxmlformats.org/drawingml/2006/main">
            <a:r>
              <a:t>El diccionario completo documenta cada pregunta o nombre del dato, respuestas, no respuesta, tipo y orden. La selección contiene 3 centrales + 12 complementarias + 4 auxiliares = 19. La matriz nominal adicional no aumenta esa selección conceptual. No se presenta sexo asignado al nacer como equivalente a género. La conservación de fecha no valida su uso para calcular duración.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datos: Ministerio de Salud, ENSSEX 2022–2023. https://datos.gob.cl/dataset/encuesta-nacional-de-salud-sexualidad-y-genero-enssex-2022-2023</a:t>
            </a:r>
          </a:p>
          <a:p xmlns:a="http://schemas.openxmlformats.org/drawingml/2006/main">
            <a:r>
              <a:t>Repositorio: https://github.com/gosoriozamora/mcdi500-grupo9-enssex</a:t>
            </a:r>
          </a:p>
          <a:p xmlns:a="http://schemas.openxmlformats.org/drawingml/2006/main">
            <a:r>
              <a:t>Revisión técnica contrastada: 3e162f7.</a:t>
            </a:r>
          </a:p>
          <a:p xmlns:a="http://schemas.openxmlformats.org/drawingml/2006/main">
            <a:r>
              <a:t>Cuestionario ENSSEX: páginas 22–24, preguntas 83, 84, 92, 93 y 96. La pregunta 91 forma parte del submódulo de pareja actual. El código NR de p83 difiere entre el cuestionario (99) y los metadatos del SAV (9); F1 documenta la discrepancia y el procesamiento usa el código del archivo verificado. Evidencia: F2/docs/Bitacora_decisiones_F1_F2.md, Resultados_preparacion_F2.md y validacion_F2.json. Las 883 son celdas recodificadas, no personas únicas. No se infiere el mecanismo estadístico de ausencia.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Repositorio: https://github.com/gosoriozamora/mcdi500-grupo9-enssex</a:t>
            </a:r>
          </a:p>
          <a:p xmlns:a="http://schemas.openxmlformats.org/drawingml/2006/main">
            <a:r>
              <a:t>Revisión técnica contrastada: 3e162f7.</a:t>
            </a:r>
          </a:p>
          <a:p xmlns:a="http://schemas.openxmlformats.org/drawingml/2006/main">
            <a:r>
              <a:t>Evidencias: README.md; F1/docs/Instalacion_y_ejecucion.md; F1/docs/Obtencion_y_conversion_ENSSEX.md; F1/docs/Verificacion_reproduccion_completa.md. Comando desde la raíz: python F1/src/convertir_enssex.py --download. F2 lee ../../F1/data/raw y escribe ../../F1/data/processed desde F2/notebooks. Los datos y funciones de F1 son compartidos, no exclusivos de su notebook. No se afirma compatibilidad probada con macOS/Linux.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Repositorio: https://github.com/gosoriozamora/mcdi500-grupo9-enssex</a:t>
            </a:r>
          </a:p>
          <a:p xmlns:a="http://schemas.openxmlformats.org/drawingml/2006/main">
            <a:r>
              <a:t>Revisión técnica contrastada: 3e162f7.</a:t>
            </a:r>
          </a:p>
          <a:p xmlns:a="http://schemas.openxmlformats.org/drawingml/2006/main">
            <a:r>
              <a:t>Evidencias específicas: F1/src/convertir_enssex.py; F1/src/preparar_enssex.py; F1/src/validar_preparacion_enssex.py; F2/docs/Bitacora_decisiones_F1_F2.md; F2/docs/validacion_F2.json. Historial: a2719e7 completa F2; f374a0f publica CSV procesados; d9de7f0 registra validación de Karla; 3e162f7 documenta reproducción integral. Los commits identifican cambios; las celdas y la bitácora explican motivos; el README describe cómo reproducir.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Repositorio: https://github.com/gosoriozamora/mcdi500-grupo9-enssex</a:t>
            </a:r>
          </a:p>
          <a:p xmlns:a="http://schemas.openxmlformats.org/drawingml/2006/main">
            <a:r>
              <a:t>Revisión técnica contrastada: 3e162f7.</a:t>
            </a:r>
          </a:p>
          <a:p xmlns:a="http://schemas.openxmlformats.org/drawingml/2006/main">
            <a:r>
              <a:t>La pregunta original se conserva en F1/docs/Formativa1_Grupo9.pdf. La definición actual está en F1 y la justificación de variables en F2/docs. No se presenta el análisis sustantivo como realizado: los gráficos actuales diagnostican calidad. La evaluación de algoritmos predictivos no es un objetivo comprometido. Duración condicionada a validar fecha; 0 columnas escaladas. El informe integrado aún debe incorporar esta vinculación.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datos: Ministerio de Salud, ENSSEX 2022–2023. https://datos.gob.cl/dataset/encuesta-nacional-de-salud-sexualidad-y-genero-enssex-2022-2023</a:t>
            </a:r>
          </a:p>
          <a:p xmlns:a="http://schemas.openxmlformats.org/drawingml/2006/main">
            <a:r>
              <a:t>Repositorio: https://github.com/gosoriozamora/mcdi500-grupo9-enssex</a:t>
            </a:r>
          </a:p>
          <a:p xmlns:a="http://schemas.openxmlformats.org/drawingml/2006/main">
            <a:r>
              <a:t>Revisión técnica contrastada: 3e162f7.</a:t>
            </a:r>
          </a:p>
          <a:p xmlns:a="http://schemas.openxmlformats.org/drawingml/2006/main">
            <a:r>
              <a:t>Documentos de la entrega: docs/Vinculacion_mapa_Sumativa1.md; docs/Mapa_conceptual_Sumativa1.pptx; docs/Mapa_conceptual_Sumativa1.pdf. La bibliografía de este anexo identifica sus fuentes y no sustituye la bibliografía completa requerida en el informe. Fechas y autoría del cuestionario/manual conforme a los documentos de ENSSEX disponibles en el proyecto. Retroalimentación del profesor facilitada por el grupo: 22/25 en Formativa 1; esta presentación no garantiza una calificación futura.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39f2a7965b43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a4e7169e5c4a32" /><Relationship Type="http://schemas.openxmlformats.org/officeDocument/2006/relationships/slideLayout" Target="/ppt/slideLayouts/slideLayout1.xml" Id="R9d2f0340217c4d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2f0340217c4d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b83e9edc74866" /><Relationship Type="http://schemas.openxmlformats.org/officeDocument/2006/relationships/notesSlide" Target="/ppt/notesSlides/notesSlide1.xml" Id="Ra211e468a33545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3c33b8829482b" /><Relationship Type="http://schemas.openxmlformats.org/officeDocument/2006/relationships/notesSlide" Target="/ppt/notesSlides/notesSlide2.xml" Id="Ra12a709c543f4c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93792beea43a8" /><Relationship Type="http://schemas.openxmlformats.org/officeDocument/2006/relationships/notesSlide" Target="/ppt/notesSlides/notesSlide3.xml" Id="R761df611dac54d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f2729efa24bd3" /><Relationship Type="http://schemas.openxmlformats.org/officeDocument/2006/relationships/notesSlide" Target="/ppt/notesSlides/notesSlide4.xml" Id="R897301d6c3274e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9289d3a2b410c" /><Relationship Type="http://schemas.openxmlformats.org/officeDocument/2006/relationships/notesSlide" Target="/ppt/notesSlides/notesSlide5.xml" Id="Rf77fcc5eee9349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cef30c4474812" /><Relationship Type="http://schemas.openxmlformats.org/officeDocument/2006/relationships/notesSlide" Target="/ppt/notesSlides/notesSlide6.xml" Id="Rd8a29005489046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92adf258b44d5" /><Relationship Type="http://schemas.openxmlformats.org/officeDocument/2006/relationships/notesSlide" Target="/ppt/notesSlides/notesSlide7.xml" Id="R64cb62d9266444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66bcaec3448e1" /><Relationship Type="http://schemas.openxmlformats.org/officeDocument/2006/relationships/notesSlide" Target="/ppt/notesSlides/notesSlide8.xml" Id="Rbbac5f99f0e242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exto_1">
            <a:extLst xmlns:a="http://schemas.openxmlformats.org/drawingml/2006/main">
              <a:ext uri="{FF2B5EF4-FFF2-40B4-BE49-F238E27FC236}">
                <a16:creationId xmlns:a16="http://schemas.microsoft.com/office/drawing/2014/main" id="{88664106-262C-4AC0-9094-23959A12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409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ENSSEX: mapa conceptual del proyecto</a:t>
            </a:r>
          </a:p>
        </p:txBody>
      </p:sp>
      <p:sp>
        <p:nvSpPr>
          <p:cNvPr id="2" name="texto_2">
            <a:extLst xmlns:a="http://schemas.openxmlformats.org/drawingml/2006/main">
              <a:ext uri="{FF2B5EF4-FFF2-40B4-BE49-F238E27FC236}">
                <a16:creationId xmlns:a16="http://schemas.microsoft.com/office/drawing/2014/main" id="{95093510-6026-47D5-8243-129F0F9B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Definición y preparación implementadas; análisis sustantivo y comunicación final proyectados</a:t>
            </a:r>
          </a:p>
        </p:txBody>
      </p:sp>
      <p:sp>
        <p:nvSpPr>
          <p:cNvPr id="3" name="texto_3">
            <a:extLst xmlns:a="http://schemas.openxmlformats.org/drawingml/2006/main">
              <a:ext uri="{FF2B5EF4-FFF2-40B4-BE49-F238E27FC236}">
                <a16:creationId xmlns:a16="http://schemas.microsoft.com/office/drawing/2014/main" id="{589B6FC7-43ED-494B-8EBE-9C840038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1314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MCDI500 · Sumativa 1 · Grupo 9 · Karla Patricia Pizarro Correa y Guillermo Antonio Osorio Zamora</a:t>
            </a:r>
          </a:p>
        </p:txBody>
      </p:sp>
      <p:sp>
        <p:nvSpPr>
          <p:cNvPr id="4" name="texto_4">
            <a:extLst xmlns:a="http://schemas.openxmlformats.org/drawingml/2006/main">
              <a:ext uri="{FF2B5EF4-FFF2-40B4-BE49-F238E27FC236}">
                <a16:creationId xmlns:a16="http://schemas.microsoft.com/office/drawing/2014/main" id="{A989F031-B0F1-4B9E-9286-666FE17D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15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5" name="texto_5">
            <a:extLst xmlns:a="http://schemas.openxmlformats.org/drawingml/2006/main">
              <a:ext uri="{FF2B5EF4-FFF2-40B4-BE49-F238E27FC236}">
                <a16:creationId xmlns:a16="http://schemas.microsoft.com/office/drawing/2014/main" id="{FF5AC184-7B81-4118-A904-134347B2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409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¿Cómo varían la valoración de la vida sexual y el bienestar mental o emocional percibido según el grado de dependencia económica de la pareja entre las personas encuestadas en ENSSEX 2022–2023 que conviven con ella?</a:t>
            </a:r>
          </a:p>
        </p:txBody>
      </p:sp>
      <p:sp>
        <p:nvSpPr>
          <p:cNvPr id="6" name="concepto_6">
            <a:extLst xmlns:a="http://schemas.openxmlformats.org/drawingml/2006/main">
              <a:ext uri="{FF2B5EF4-FFF2-40B4-BE49-F238E27FC236}">
                <a16:creationId xmlns:a16="http://schemas.microsoft.com/office/drawing/2014/main" id="{D494D85E-CD77-460B-B6B9-79155755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09550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1. Definición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Pregunta, variables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y alcance · F1</a:t>
            </a:r>
          </a:p>
        </p:txBody>
      </p:sp>
      <p:sp>
        <p:nvSpPr>
          <p:cNvPr id="7" name="concepto_7">
            <a:extLst xmlns:a="http://schemas.openxmlformats.org/drawingml/2006/main">
              <a:ext uri="{FF2B5EF4-FFF2-40B4-BE49-F238E27FC236}">
                <a16:creationId xmlns:a16="http://schemas.microsoft.com/office/drawing/2014/main" id="{7CDD659F-9A51-43A4-89D9-E0806647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52750"/>
            <a:ext cx="209550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2. Obtención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SAV verificado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y copia CSV · F2</a:t>
            </a:r>
          </a:p>
        </p:txBody>
      </p:sp>
      <p:sp>
        <p:nvSpPr>
          <p:cNvPr id="8" name="concepto_8">
            <a:extLst xmlns:a="http://schemas.openxmlformats.org/drawingml/2006/main">
              <a:ext uri="{FF2B5EF4-FFF2-40B4-BE49-F238E27FC236}">
                <a16:creationId xmlns:a16="http://schemas.microsoft.com/office/drawing/2014/main" id="{FA5A7C11-C378-443C-ABEE-E0762BE1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52750"/>
            <a:ext cx="209550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3. Exploración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Población y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calidad · F2</a:t>
            </a:r>
          </a:p>
        </p:txBody>
      </p:sp>
      <p:sp>
        <p:nvSpPr>
          <p:cNvPr id="9" name="concepto_9">
            <a:extLst xmlns:a="http://schemas.openxmlformats.org/drawingml/2006/main">
              <a:ext uri="{FF2B5EF4-FFF2-40B4-BE49-F238E27FC236}">
                <a16:creationId xmlns:a16="http://schemas.microsoft.com/office/drawing/2014/main" id="{52203EB8-A92D-4B05-A4A7-91A8BC30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52750"/>
            <a:ext cx="209550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4. Preparación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Transformación y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validación · F2</a:t>
            </a:r>
          </a:p>
        </p:txBody>
      </p:sp>
      <p:sp>
        <p:nvSpPr>
          <p:cNvPr id="10" name="concepto_10">
            <a:extLst xmlns:a="http://schemas.openxmlformats.org/drawingml/2006/main">
              <a:ext uri="{FF2B5EF4-FFF2-40B4-BE49-F238E27FC236}">
                <a16:creationId xmlns:a16="http://schemas.microsoft.com/office/drawing/2014/main" id="{D0BCCC6C-4C3F-4099-AD9E-56A1C650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209550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5. Análisis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Comparaciones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por grupos · F3</a:t>
            </a:r>
          </a:p>
        </p:txBody>
      </p:sp>
      <p:sp>
        <p:nvSpPr>
          <p:cNvPr id="11" name="concepto_11">
            <a:extLst xmlns:a="http://schemas.openxmlformats.org/drawingml/2006/main">
              <a:ext uri="{FF2B5EF4-FFF2-40B4-BE49-F238E27FC236}">
                <a16:creationId xmlns:a16="http://schemas.microsoft.com/office/drawing/2014/main" id="{DB5F6444-8771-43EE-A980-CC51CE45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952750"/>
            <a:ext cx="209550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6. Evaluación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Interpretación y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comunicación · F4</a:t>
            </a:r>
          </a:p>
        </p:txBody>
      </p: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67000" y="36099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67300" y="36099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67600" y="36099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867900" y="36099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2268200" y="36099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B2CD9-2D28-4A13-AC34-84BF0625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4800600" cy="371475"/>
          </a:xfrm>
          <a:custGeom xmlns:a="http://schemas.openxmlformats.org/drawingml/2006/main">
            <a:pathLst>
              <a:path w="4800600" h="371475">
                <a:moveTo>
                  <a:pt x="4800600" y="371475"/>
                </a:moveTo>
                <a:lnTo>
                  <a:pt x="4800600" y="0"/>
                </a:lnTo>
                <a:lnTo>
                  <a:pt x="0" y="0"/>
                </a:ln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1788D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D8337-C999-46B9-AE32-5CF3736B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670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47625" y="85725"/>
                </a:lnTo>
                <a:close/>
              </a:path>
            </a:pathLst>
          </a:custGeom>
          <a:solidFill xmlns:a="http://schemas.openxmlformats.org/drawingml/2006/main">
            <a:srgbClr val="61788D"/>
          </a:solidFill>
          <a:ln xmlns:a="http://schemas.openxmlformats.org/drawingml/2006/main" w="0">
            <a:noFill/>
          </a:ln>
        </p:spPr>
      </p:sp>
      <p:sp>
        <p:nvSpPr>
          <p:cNvPr id="19" name="texto_12">
            <a:extLst xmlns:a="http://schemas.openxmlformats.org/drawingml/2006/main">
              <a:ext uri="{FF2B5EF4-FFF2-40B4-BE49-F238E27FC236}">
                <a16:creationId xmlns:a16="http://schemas.microsoft.com/office/drawing/2014/main" id="{7E25FD93-8094-4280-A949-4F7378F7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00300"/>
            <a:ext cx="4667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Exploración puede redefinir la pregunta y la selección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4D8D5-BD3A-4E89-A7C9-9F796E32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67200"/>
            <a:ext cx="4800600" cy="447675"/>
          </a:xfrm>
          <a:custGeom xmlns:a="http://schemas.openxmlformats.org/drawingml/2006/main">
            <a:pathLst>
              <a:path w="4800600" h="447675">
                <a:moveTo>
                  <a:pt x="4800600" y="0"/>
                </a:moveTo>
                <a:lnTo>
                  <a:pt x="4800600" y="447675"/>
                </a:lnTo>
                <a:lnTo>
                  <a:pt x="0" y="4476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1788D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15682-AE8E-4BE0-A6FE-E59C15FD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85725"/>
                </a:moveTo>
                <a:lnTo>
                  <a:pt x="95250" y="857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61788D"/>
          </a:solidFill>
          <a:ln xmlns:a="http://schemas.openxmlformats.org/drawingml/2006/main" w="0">
            <a:noFill/>
          </a:ln>
        </p:spPr>
      </p:sp>
      <p:sp>
        <p:nvSpPr>
          <p:cNvPr id="22" name="texto_13">
            <a:extLst xmlns:a="http://schemas.openxmlformats.org/drawingml/2006/main">
              <a:ext uri="{FF2B5EF4-FFF2-40B4-BE49-F238E27FC236}">
                <a16:creationId xmlns:a16="http://schemas.microsoft.com/office/drawing/2014/main" id="{7A9A9511-0D27-45AB-AD67-C6980FB1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43450"/>
            <a:ext cx="538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Evaluación puede devolver el proceso a la preparación</a:t>
            </a:r>
          </a:p>
        </p:txBody>
      </p:sp>
      <p:sp>
        <p:nvSpPr>
          <p:cNvPr id="23" name="concepto_14">
            <a:extLst xmlns:a="http://schemas.openxmlformats.org/drawingml/2006/main">
              <a:ext uri="{FF2B5EF4-FFF2-40B4-BE49-F238E27FC236}">
                <a16:creationId xmlns:a16="http://schemas.microsoft.com/office/drawing/2014/main" id="{77B69317-5BC7-419A-93CE-2FC655B4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42862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Reproducibilidad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.venv + versiones + descarga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README y rutas relativas</a:t>
            </a:r>
          </a:p>
        </p:txBody>
      </p:sp>
      <p:sp>
        <p:nvSpPr>
          <p:cNvPr id="24" name="concepto_15">
            <a:extLst xmlns:a="http://schemas.openxmlformats.org/drawingml/2006/main">
              <a:ext uri="{FF2B5EF4-FFF2-40B4-BE49-F238E27FC236}">
                <a16:creationId xmlns:a16="http://schemas.microsoft.com/office/drawing/2014/main" id="{260F7698-C7EC-4F17-9E87-E701D1EA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619750"/>
            <a:ext cx="4476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Documentación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Celdas narrativas + diccionario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Bitácora con motivos y cifras</a:t>
            </a:r>
          </a:p>
        </p:txBody>
      </p:sp>
      <p:sp>
        <p:nvSpPr>
          <p:cNvPr id="25" name="concepto_16">
            <a:extLst xmlns:a="http://schemas.openxmlformats.org/drawingml/2006/main">
              <a:ext uri="{FF2B5EF4-FFF2-40B4-BE49-F238E27FC236}">
                <a16:creationId xmlns:a16="http://schemas.microsoft.com/office/drawing/2014/main" id="{437F1A1A-8AF3-4454-91C8-84ACC61E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19750"/>
            <a:ext cx="42862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Trazabilidad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Git + folios + huellas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Commits y resultados verificables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385AB6-B30C-413D-9DD7-BD2CF151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267200"/>
            <a:ext cx="1304925" cy="1352550"/>
          </a:xfrm>
          <a:custGeom xmlns:a="http://schemas.openxmlformats.org/drawingml/2006/main">
            <a:pathLst>
              <a:path w="1304925" h="1352550">
                <a:moveTo>
                  <a:pt x="0" y="1352550"/>
                </a:moveTo>
                <a:lnTo>
                  <a:pt x="0" y="828675"/>
                </a:lnTo>
                <a:lnTo>
                  <a:pt x="1304925" y="828675"/>
                </a:lnTo>
                <a:lnTo>
                  <a:pt x="1304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1788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1303AF-0394-4006-A71A-E87F814E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672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85725"/>
                </a:moveTo>
                <a:lnTo>
                  <a:pt x="95250" y="857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61788D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663E6C-9D68-4621-A43B-B8CC7533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1200150" cy="1352550"/>
          </a:xfrm>
          <a:custGeom xmlns:a="http://schemas.openxmlformats.org/drawingml/2006/main">
            <a:pathLst>
              <a:path w="1200150" h="1352550">
                <a:moveTo>
                  <a:pt x="1200150" y="1352550"/>
                </a:moveTo>
                <a:lnTo>
                  <a:pt x="1200150" y="1076325"/>
                </a:lnTo>
                <a:lnTo>
                  <a:pt x="0" y="10763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1788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5ADA23-74D2-44FB-A809-8FF51D08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2672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85725"/>
                </a:moveTo>
                <a:lnTo>
                  <a:pt x="95250" y="857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61788D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9726BB-F7A9-416C-BDC2-0C8FD168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67200"/>
            <a:ext cx="3705225" cy="1352550"/>
          </a:xfrm>
          <a:custGeom xmlns:a="http://schemas.openxmlformats.org/drawingml/2006/main">
            <a:pathLst>
              <a:path w="3705225" h="1352550">
                <a:moveTo>
                  <a:pt x="3705225" y="1352550"/>
                </a:moveTo>
                <a:lnTo>
                  <a:pt x="3705225" y="828675"/>
                </a:lnTo>
                <a:lnTo>
                  <a:pt x="0" y="8286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1788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854AE7-E147-488A-A0B0-7B15F875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85725"/>
                </a:moveTo>
                <a:lnTo>
                  <a:pt x="95250" y="85725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61788D"/>
          </a:solidFill>
          <a:ln xmlns:a="http://schemas.openxmlformats.org/drawingml/2006/main" w="0">
            <a:noFill/>
          </a:ln>
        </p:spPr>
      </p:sp>
      <p:sp>
        <p:nvSpPr>
          <p:cNvPr id="32" name="texto_17">
            <a:extLst xmlns:a="http://schemas.openxmlformats.org/drawingml/2006/main">
              <a:ext uri="{FF2B5EF4-FFF2-40B4-BE49-F238E27FC236}">
                <a16:creationId xmlns:a16="http://schemas.microsoft.com/office/drawing/2014/main" id="{65090C39-4788-4A1B-A276-FD28E6BD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permite repetir</a:t>
            </a:r>
          </a:p>
        </p:txBody>
      </p:sp>
      <p:sp>
        <p:nvSpPr>
          <p:cNvPr id="33" name="texto_18">
            <a:extLst xmlns:a="http://schemas.openxmlformats.org/drawingml/2006/main">
              <a:ext uri="{FF2B5EF4-FFF2-40B4-BE49-F238E27FC236}">
                <a16:creationId xmlns:a16="http://schemas.microsoft.com/office/drawing/2014/main" id="{B3AA70FD-ABDF-4DAD-94D4-DFBF04D1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3870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explica decisiones</a:t>
            </a:r>
          </a:p>
        </p:txBody>
      </p:sp>
      <p:sp>
        <p:nvSpPr>
          <p:cNvPr id="34" name="texto_19">
            <a:extLst xmlns:a="http://schemas.openxmlformats.org/drawingml/2006/main">
              <a:ext uri="{FF2B5EF4-FFF2-40B4-BE49-F238E27FC236}">
                <a16:creationId xmlns:a16="http://schemas.microsoft.com/office/drawing/2014/main" id="{999B57DD-1D6B-43D7-8032-1924CDAA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530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registra cambios</a:t>
            </a:r>
          </a:p>
        </p:txBody>
      </p:sp>
      <p:sp>
        <p:nvSpPr>
          <p:cNvPr id="35" name="texto_20">
            <a:extLst xmlns:a="http://schemas.openxmlformats.org/drawingml/2006/main">
              <a:ext uri="{FF2B5EF4-FFF2-40B4-BE49-F238E27FC236}">
                <a16:creationId xmlns:a16="http://schemas.microsoft.com/office/drawing/2014/main" id="{83C9390D-BA59-44F9-ADE2-59EE8D6A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62800"/>
            <a:ext cx="1409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Leyenda: azul = implementado en F1–F2; verde = soporte transversal; gris = proyectado; ámbar = decisión condicionada.</a:t>
            </a:r>
          </a:p>
        </p:txBody>
      </p:sp>
      <p:sp>
        <p:nvSpPr>
          <p:cNvPr id="36" name="texto_21">
            <a:extLst xmlns:a="http://schemas.openxmlformats.org/drawingml/2006/main">
              <a:ext uri="{FF2B5EF4-FFF2-40B4-BE49-F238E27FC236}">
                <a16:creationId xmlns:a16="http://schemas.microsoft.com/office/drawing/2014/main" id="{87210F96-C42E-4A4E-BDC6-779A79A3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553325"/>
            <a:ext cx="1409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Flecha continua = relación o secuencia. Flecha discontinua = retorno iterativo. Cada etapa declara su fase y estado.</a:t>
            </a:r>
          </a:p>
        </p:txBody>
      </p:sp>
    </p:spTree>
    <p:extLst>
      <p:ext uri="{BB962C8B-B14F-4D97-AF65-F5344CB8AC3E}">
        <p14:creationId xmlns:p14="http://schemas.microsoft.com/office/powerpoint/2010/main" val="2130430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o_22">
            <a:extLst xmlns:a="http://schemas.openxmlformats.org/drawingml/2006/main">
              <a:ext uri="{FF2B5EF4-FFF2-40B4-BE49-F238E27FC236}">
                <a16:creationId xmlns:a16="http://schemas.microsoft.com/office/drawing/2014/main" id="{15964FCC-2E2A-465B-89B9-C36A0BB6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409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Variables que sostienen la pregunta</a:t>
            </a:r>
          </a:p>
        </p:txBody>
      </p:sp>
      <p:sp>
        <p:nvSpPr>
          <p:cNvPr id="2" name="texto_23">
            <a:extLst xmlns:a="http://schemas.openxmlformats.org/drawingml/2006/main">
              <a:ext uri="{FF2B5EF4-FFF2-40B4-BE49-F238E27FC236}">
                <a16:creationId xmlns:a16="http://schemas.microsoft.com/office/drawing/2014/main" id="{E92CE4ED-56F2-41A8-8AA7-92447788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La unidad de análisis es la persona encuestada que declara convivir con su pareja</a:t>
            </a:r>
          </a:p>
        </p:txBody>
      </p:sp>
      <p:sp>
        <p:nvSpPr>
          <p:cNvPr id="3" name="texto_24">
            <a:extLst xmlns:a="http://schemas.openxmlformats.org/drawingml/2006/main">
              <a:ext uri="{FF2B5EF4-FFF2-40B4-BE49-F238E27FC236}">
                <a16:creationId xmlns:a16="http://schemas.microsoft.com/office/drawing/2014/main" id="{D448D1A0-C3FB-433A-9C62-5AB9A54F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1314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MCDI500 · Sumativa 1 · Grupo 9 · Karla Patricia Pizarro Correa y Guillermo Antonio Osorio Zamora</a:t>
            </a:r>
          </a:p>
        </p:txBody>
      </p:sp>
      <p:sp>
        <p:nvSpPr>
          <p:cNvPr id="4" name="texto_25">
            <a:extLst xmlns:a="http://schemas.openxmlformats.org/drawingml/2006/main">
              <a:ext uri="{FF2B5EF4-FFF2-40B4-BE49-F238E27FC236}">
                <a16:creationId xmlns:a16="http://schemas.microsoft.com/office/drawing/2014/main" id="{805AD14E-C659-462D-B85A-64CE8AA7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15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140970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38875"/>
                <a:gridCol w="1666875"/>
                <a:gridCol w="6191250"/>
              </a:tblGrid>
              <a:tr h="647700">
                <a:tc>
                  <a:txBody>
                    <a:bodyPr lIns="11430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Dato o pregunta</a:t>
                      </a:r>
                    </a:p>
                  </a:txBody>
                  <a:tcPr marL="91440" marR="91440" marT="45720" marB="45720" anchor="ctr">
                    <a:solidFill>
                      <a:srgbClr val="1530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Código</a:t>
                      </a:r>
                    </a:p>
                  </a:txBody>
                  <a:tcPr marL="91440" marR="91440" marT="45720" marB="45720" anchor="ctr">
                    <a:solidFill>
                      <a:srgbClr val="1530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Papel y respuestas válidas</a:t>
                      </a:r>
                    </a:p>
                  </a:txBody>
                  <a:tcPr marL="91440" marR="91440" marT="45720" marB="45720" anchor="ctr">
                    <a:solidFill>
                      <a:srgbClr val="15304B"/>
                    </a:solidFill>
                  </a:tcPr>
                </a:tc>
              </a:tr>
              <a:tr h="647700"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Dependencia económica de la pareja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p93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Explicativa ordinal: 1 completa, 2 parcial, 3 ninguna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Valoración de la vida sexual</a:t>
                      </a:r>
                    </a:p>
                  </a:txBody>
                  <a:tcPr marL="91440" marR="91440" marT="45720" marB="45720" anchor="ctr">
                    <a:solidFill>
                      <a:srgbClr val="F0F2F5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i_6_p9</a:t>
                      </a:r>
                    </a:p>
                  </a:txBody>
                  <a:tcPr marL="91440" marR="91440" marT="45720" marB="45720" anchor="ctr">
                    <a:solidFill>
                      <a:srgbClr val="F0F2F5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Resultado ordinal: 1 muy mal a 7 muy bien</a:t>
                      </a:r>
                    </a:p>
                  </a:txBody>
                  <a:tcPr marL="91440" marR="91440" marT="45720" marB="45720" anchor="ctr">
                    <a:solidFill>
                      <a:srgbClr val="F0F2F5"/>
                    </a:solidFill>
                  </a:tcPr>
                </a:tc>
              </a:tr>
              <a:tr h="647700"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Bienestar mental o emocional percibido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i_2_p9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Resultado ordinal: 1 muy mal a 7 muy bien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Tiene pareja actualmente</a:t>
                      </a:r>
                    </a:p>
                  </a:txBody>
                  <a:tcPr marL="91440" marR="91440" marT="45720" marB="45720" anchor="ctr">
                    <a:solidFill>
                      <a:srgbClr val="F0F2F5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p81</a:t>
                      </a:r>
                    </a:p>
                  </a:txBody>
                  <a:tcPr marL="91440" marR="91440" marT="45720" marB="45720" anchor="ctr">
                    <a:solidFill>
                      <a:srgbClr val="F0F2F5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Filtro: respuesta 1 (sí)</a:t>
                      </a:r>
                    </a:p>
                  </a:txBody>
                  <a:tcPr marL="91440" marR="91440" marT="45720" marB="45720" anchor="ctr">
                    <a:solidFill>
                      <a:srgbClr val="F0F2F5"/>
                    </a:solidFill>
                  </a:tcPr>
                </a:tc>
              </a:tr>
              <a:tr h="647700"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Convive actualmente con su pareja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p83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950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Filtro conjunto: respuesta 1 (sí)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oncepto_26">
            <a:extLst xmlns:a="http://schemas.openxmlformats.org/drawingml/2006/main">
              <a:ext uri="{FF2B5EF4-FFF2-40B4-BE49-F238E27FC236}">
                <a16:creationId xmlns:a16="http://schemas.microsoft.com/office/drawing/2014/main" id="{2FDDB6D0-4A2F-4177-8370-37EC8D73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3476625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Base completa</a:t>
            </a:r>
          </a:p>
          <a:p xmlns:a="http://schemas.openxmlformats.org/drawingml/2006/main">
            <a:pPr algn="ctr">
              <a:defRPr sz="217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20.392 personas</a:t>
            </a:r>
          </a:p>
          <a:p xmlns:a="http://schemas.openxmlformats.org/drawingml/2006/main">
            <a:pPr algn="ctr">
              <a:defRPr sz="217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1.126 columnas</a:t>
            </a:r>
          </a:p>
        </p:txBody>
      </p:sp>
      <p:sp>
        <p:nvSpPr>
          <p:cNvPr id="7" name="concepto_27">
            <a:extLst xmlns:a="http://schemas.openxmlformats.org/drawingml/2006/main">
              <a:ext uri="{FF2B5EF4-FFF2-40B4-BE49-F238E27FC236}">
                <a16:creationId xmlns:a16="http://schemas.microsoft.com/office/drawing/2014/main" id="{B63887CD-BA69-49E6-B627-183A71CD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791200"/>
            <a:ext cx="40957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Selección con código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Tiene pareja y convive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(p81 = 1 y p83 = 1)</a:t>
            </a:r>
          </a:p>
        </p:txBody>
      </p:sp>
      <p:sp>
        <p:nvSpPr>
          <p:cNvPr id="8" name="concepto_28">
            <a:extLst xmlns:a="http://schemas.openxmlformats.org/drawingml/2006/main">
              <a:ext uri="{FF2B5EF4-FFF2-40B4-BE49-F238E27FC236}">
                <a16:creationId xmlns:a16="http://schemas.microsoft.com/office/drawing/2014/main" id="{9DDADFF3-F802-4F5A-84EB-51150DB7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791200"/>
            <a:ext cx="3286125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Conjunto de estudio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8.579 personas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19 columnas originales</a:t>
            </a:r>
          </a:p>
        </p:txBody>
      </p: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48125" y="635317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10" name="texto_29">
            <a:extLst xmlns:a="http://schemas.openxmlformats.org/drawingml/2006/main">
              <a:ext uri="{FF2B5EF4-FFF2-40B4-BE49-F238E27FC236}">
                <a16:creationId xmlns:a16="http://schemas.microsoft.com/office/drawing/2014/main" id="{5BF77EEE-8E64-4D55-B96D-D6BF3FDD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9245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se delimita con</a:t>
            </a:r>
          </a:p>
        </p:txBody>
      </p: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763125" y="635317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12" name="texto_30">
            <a:extLst xmlns:a="http://schemas.openxmlformats.org/drawingml/2006/main">
              <a:ext uri="{FF2B5EF4-FFF2-40B4-BE49-F238E27FC236}">
                <a16:creationId xmlns:a16="http://schemas.microsoft.com/office/drawing/2014/main" id="{E672D06F-70A4-4C02-BA07-99FB466A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9245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conserva</a:t>
            </a:r>
          </a:p>
        </p:txBody>
      </p:sp>
      <p:sp>
        <p:nvSpPr>
          <p:cNvPr id="13" name="texto_31">
            <a:extLst xmlns:a="http://schemas.openxmlformats.org/drawingml/2006/main">
              <a:ext uri="{FF2B5EF4-FFF2-40B4-BE49-F238E27FC236}">
                <a16:creationId xmlns:a16="http://schemas.microsoft.com/office/drawing/2014/main" id="{AC00E509-D850-4880-A5E0-A1189A6A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91375"/>
            <a:ext cx="1409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Las dos valoraciones se analizan por separado. No se suman ni se interpretan como diagnósticos clínicos.</a:t>
            </a:r>
          </a:p>
        </p:txBody>
      </p:sp>
      <p:sp>
        <p:nvSpPr>
          <p:cNvPr id="14" name="texto_32">
            <a:extLst xmlns:a="http://schemas.openxmlformats.org/drawingml/2006/main">
              <a:ext uri="{FF2B5EF4-FFF2-40B4-BE49-F238E27FC236}">
                <a16:creationId xmlns:a16="http://schemas.microsoft.com/office/drawing/2014/main" id="{062F8C3C-0696-4531-916E-C487CEBA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0"/>
            <a:ext cx="140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Alcance descriptivo y comparativo de la muestra, sin ponderación ni atribución de relaciones causales.</a:t>
            </a:r>
          </a:p>
        </p:txBody>
      </p:sp>
    </p:spTree>
    <p:extLst>
      <p:ext uri="{BB962C8B-B14F-4D97-AF65-F5344CB8AC3E}">
        <p14:creationId xmlns:p14="http://schemas.microsoft.com/office/powerpoint/2010/main" val="938312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o_33">
            <a:extLst xmlns:a="http://schemas.openxmlformats.org/drawingml/2006/main">
              <a:ext uri="{FF2B5EF4-FFF2-40B4-BE49-F238E27FC236}">
                <a16:creationId xmlns:a16="http://schemas.microsoft.com/office/drawing/2014/main" id="{28EA15F1-82E4-48A0-BE8A-71BB04D0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409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Las 19 columnas y su función</a:t>
            </a:r>
          </a:p>
        </p:txBody>
      </p:sp>
      <p:sp>
        <p:nvSpPr>
          <p:cNvPr id="2" name="texto_34">
            <a:extLst xmlns:a="http://schemas.openxmlformats.org/drawingml/2006/main">
              <a:ext uri="{FF2B5EF4-FFF2-40B4-BE49-F238E27FC236}">
                <a16:creationId xmlns:a16="http://schemas.microsoft.com/office/drawing/2014/main" id="{20543262-1EC9-4BCF-B145-ACB46940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Selección declarada en el esquema y aplicada mediante código al archivo completo</a:t>
            </a:r>
          </a:p>
        </p:txBody>
      </p:sp>
      <p:sp>
        <p:nvSpPr>
          <p:cNvPr id="3" name="texto_35">
            <a:extLst xmlns:a="http://schemas.openxmlformats.org/drawingml/2006/main">
              <a:ext uri="{FF2B5EF4-FFF2-40B4-BE49-F238E27FC236}">
                <a16:creationId xmlns:a16="http://schemas.microsoft.com/office/drawing/2014/main" id="{ED13D8CE-35A0-4A39-A09D-B0D9A398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1314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MCDI500 · Sumativa 1 · Grupo 9 · Karla Patricia Pizarro Correa y Guillermo Antonio Osorio Zamora</a:t>
            </a:r>
          </a:p>
        </p:txBody>
      </p:sp>
      <p:sp>
        <p:nvSpPr>
          <p:cNvPr id="4" name="texto_36">
            <a:extLst xmlns:a="http://schemas.openxmlformats.org/drawingml/2006/main">
              <a:ext uri="{FF2B5EF4-FFF2-40B4-BE49-F238E27FC236}">
                <a16:creationId xmlns:a16="http://schemas.microsoft.com/office/drawing/2014/main" id="{09AF8256-AE17-46B2-9B1D-EA1A1AA5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15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5" name="texto_37">
            <a:extLst xmlns:a="http://schemas.openxmlformats.org/drawingml/2006/main">
              <a:ext uri="{FF2B5EF4-FFF2-40B4-BE49-F238E27FC236}">
                <a16:creationId xmlns:a16="http://schemas.microsoft.com/office/drawing/2014/main" id="{D99E843D-217F-4628-A3A4-BDF4FEF6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3 CENTRALES</a:t>
            </a:r>
          </a:p>
        </p:txBody>
      </p:sp>
      <p:sp>
        <p:nvSpPr>
          <p:cNvPr id="6" name="texto_38">
            <a:extLst xmlns:a="http://schemas.openxmlformats.org/drawingml/2006/main">
              <a:ext uri="{FF2B5EF4-FFF2-40B4-BE49-F238E27FC236}">
                <a16:creationId xmlns:a16="http://schemas.microsoft.com/office/drawing/2014/main" id="{40E1A3A6-125B-436B-BE4D-891C4C63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2150"/>
            <a:ext cx="6762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Dependencia económica (p93)</a:t>
            </a:r>
          </a:p>
          <a:p xmlns:a="http://schemas.openxmlformats.org/drawingml/2006/main">
            <a:pPr algn="l">
              <a:defRPr sz="2025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Valoración de la vida sexual (i_6_p9)</a:t>
            </a:r>
          </a:p>
          <a:p xmlns:a="http://schemas.openxmlformats.org/drawingml/2006/main">
            <a:pPr algn="l">
              <a:defRPr sz="2025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Bienestar mental o emocional percibido (i_2_p9)</a:t>
            </a:r>
          </a:p>
        </p:txBody>
      </p:sp>
      <p:sp>
        <p:nvSpPr>
          <p:cNvPr id="7" name="texto_39">
            <a:extLst xmlns:a="http://schemas.openxmlformats.org/drawingml/2006/main">
              <a:ext uri="{FF2B5EF4-FFF2-40B4-BE49-F238E27FC236}">
                <a16:creationId xmlns:a16="http://schemas.microsoft.com/office/drawing/2014/main" id="{8370406D-5972-476D-B468-363EA105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Definen los grupos y los dos resultados.</a:t>
            </a:r>
          </a:p>
        </p:txBody>
      </p:sp>
      <p:sp>
        <p:nvSpPr>
          <p:cNvPr id="8" name="texto_40">
            <a:extLst xmlns:a="http://schemas.openxmlformats.org/drawingml/2006/main">
              <a:ext uri="{FF2B5EF4-FFF2-40B4-BE49-F238E27FC236}">
                <a16:creationId xmlns:a16="http://schemas.microsoft.com/office/drawing/2014/main" id="{F629487C-F0C8-44AC-8B0F-1981A807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4 AUXILIARES</a:t>
            </a:r>
          </a:p>
        </p:txBody>
      </p:sp>
      <p:sp>
        <p:nvSpPr>
          <p:cNvPr id="9" name="texto_41">
            <a:extLst xmlns:a="http://schemas.openxmlformats.org/drawingml/2006/main">
              <a:ext uri="{FF2B5EF4-FFF2-40B4-BE49-F238E27FC236}">
                <a16:creationId xmlns:a16="http://schemas.microsoft.com/office/drawing/2014/main" id="{34BE8FC4-3ED2-44A9-BEB9-DB62969A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66675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Tiene pareja actualmente (p81)</a:t>
            </a:r>
          </a:p>
          <a:p xmlns:a="http://schemas.openxmlformats.org/drawingml/2006/main">
            <a:pPr algn="l">
              <a:defRPr sz="2025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Convive con su pareja (p83)</a:t>
            </a:r>
          </a:p>
          <a:p xmlns:a="http://schemas.openxmlformats.org/drawingml/2006/main">
            <a:pPr algn="l">
              <a:defRPr sz="2025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Identificador de la encuesta (folio_encuesta)</a:t>
            </a:r>
          </a:p>
          <a:p xmlns:a="http://schemas.openxmlformats.org/drawingml/2006/main">
            <a:pPr algn="l">
              <a:defRPr sz="2025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Fecha registrada en la base (fecha)</a:t>
            </a:r>
          </a:p>
        </p:txBody>
      </p:sp>
      <p:sp>
        <p:nvSpPr>
          <p:cNvPr id="10" name="texto_42">
            <a:extLst xmlns:a="http://schemas.openxmlformats.org/drawingml/2006/main">
              <a:ext uri="{FF2B5EF4-FFF2-40B4-BE49-F238E27FC236}">
                <a16:creationId xmlns:a16="http://schemas.microsoft.com/office/drawing/2014/main" id="{2A6CF05C-C5E7-4F49-90AB-5C85FF8E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05550"/>
            <a:ext cx="6667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Delimitan la población y permiten rastrear registros.</a:t>
            </a:r>
          </a:p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La fecha se conserva sin asumir qué evento representa.</a:t>
            </a:r>
          </a:p>
        </p:txBody>
      </p:sp>
      <p:sp>
        <p:nvSpPr>
          <p:cNvPr id="11" name="texto_43">
            <a:extLst xmlns:a="http://schemas.openxmlformats.org/drawingml/2006/main">
              <a:ext uri="{FF2B5EF4-FFF2-40B4-BE49-F238E27FC236}">
                <a16:creationId xmlns:a16="http://schemas.microsoft.com/office/drawing/2014/main" id="{B851B410-B1DA-4805-97D3-FBEC9B2D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76375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12 COMPLEMENTARIAS</a:t>
            </a:r>
          </a:p>
        </p:txBody>
      </p:sp>
      <p:sp>
        <p:nvSpPr>
          <p:cNvPr id="12" name="texto_44">
            <a:extLst xmlns:a="http://schemas.openxmlformats.org/drawingml/2006/main">
              <a:ext uri="{FF2B5EF4-FFF2-40B4-BE49-F238E27FC236}">
                <a16:creationId xmlns:a16="http://schemas.microsoft.com/office/drawing/2014/main" id="{F7FB3FE7-1C62-48A3-850D-A10E6B1D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6762750" cy="459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Edad de la persona (p4)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Sexo asignado al nacer (p1)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Género declarado (p3)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Nivel educacional (p5)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Región (region)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Estado conyugal o civil (p7)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Ingreso relativo a la pareja (p92)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Año de inicio de convivencia (p84)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Edad de la pareja (p91)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Actividad sexual con la pareja, último mes (p96)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Salud general percibida (p10)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Calidad de vida percibida (p8)</a:t>
            </a:r>
          </a:p>
        </p:txBody>
      </p:sp>
      <p:sp>
        <p:nvSpPr>
          <p:cNvPr id="13" name="texto_45">
            <a:extLst xmlns:a="http://schemas.openxmlformats.org/drawingml/2006/main">
              <a:ext uri="{FF2B5EF4-FFF2-40B4-BE49-F238E27FC236}">
                <a16:creationId xmlns:a16="http://schemas.microsoft.com/office/drawing/2014/main" id="{160FEE74-9B4D-4533-8FFD-61C4E36F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686550"/>
            <a:ext cx="676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Describen el contexto sociodemográfico, relacional</a:t>
            </a:r>
          </a:p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y de salud. No se usarán todas en un único modelo.</a:t>
            </a:r>
          </a:p>
        </p:txBody>
      </p:sp>
      <p:sp>
        <p:nvSpPr>
          <p:cNvPr id="14" name="texto_46">
            <a:extLst xmlns:a="http://schemas.openxmlformats.org/drawingml/2006/main">
              <a:ext uri="{FF2B5EF4-FFF2-40B4-BE49-F238E27FC236}">
                <a16:creationId xmlns:a16="http://schemas.microsoft.com/office/drawing/2014/main" id="{7C036ACA-E75D-4361-BB89-97FCCC03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00950"/>
            <a:ext cx="1409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Salida principal: 19 originales + diferencia de edad calculada + duración de convivencia reservada = 21 columnas.</a:t>
            </a:r>
          </a:p>
        </p:txBody>
      </p:sp>
    </p:spTree>
    <p:extLst>
      <p:ext uri="{BB962C8B-B14F-4D97-AF65-F5344CB8AC3E}">
        <p14:creationId xmlns:p14="http://schemas.microsoft.com/office/powerpoint/2010/main" val="1554584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o_47">
            <a:extLst xmlns:a="http://schemas.openxmlformats.org/drawingml/2006/main">
              <a:ext uri="{FF2B5EF4-FFF2-40B4-BE49-F238E27FC236}">
                <a16:creationId xmlns:a16="http://schemas.microsoft.com/office/drawing/2014/main" id="{76B9550A-C751-4406-A87D-ADFC67FD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409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Faltantes, reglas de aplicación y decisiones</a:t>
            </a:r>
          </a:p>
        </p:txBody>
      </p:sp>
      <p:sp>
        <p:nvSpPr>
          <p:cNvPr id="2" name="texto_48">
            <a:extLst xmlns:a="http://schemas.openxmlformats.org/drawingml/2006/main">
              <a:ext uri="{FF2B5EF4-FFF2-40B4-BE49-F238E27FC236}">
                <a16:creationId xmlns:a16="http://schemas.microsoft.com/office/drawing/2014/main" id="{3111909B-EE7E-4A2B-8267-769C4934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Se mide antes de transformar y se conserva el original para reconstruir cada decisión</a:t>
            </a:r>
          </a:p>
        </p:txBody>
      </p:sp>
      <p:sp>
        <p:nvSpPr>
          <p:cNvPr id="3" name="texto_49">
            <a:extLst xmlns:a="http://schemas.openxmlformats.org/drawingml/2006/main">
              <a:ext uri="{FF2B5EF4-FFF2-40B4-BE49-F238E27FC236}">
                <a16:creationId xmlns:a16="http://schemas.microsoft.com/office/drawing/2014/main" id="{7A1CA4CE-F2B6-4B23-99FD-4E106E8D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1314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MCDI500 · Sumativa 1 · Grupo 9 · Karla Patricia Pizarro Correa y Guillermo Antonio Osorio Zamora</a:t>
            </a:r>
          </a:p>
        </p:txBody>
      </p:sp>
      <p:sp>
        <p:nvSpPr>
          <p:cNvPr id="4" name="texto_50">
            <a:extLst xmlns:a="http://schemas.openxmlformats.org/drawingml/2006/main">
              <a:ext uri="{FF2B5EF4-FFF2-40B4-BE49-F238E27FC236}">
                <a16:creationId xmlns:a16="http://schemas.microsoft.com/office/drawing/2014/main" id="{B5B5933C-C1C5-4DA9-A0C9-2DE6196F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15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5" name="concepto_51">
            <a:extLst xmlns:a="http://schemas.openxmlformats.org/drawingml/2006/main">
              <a:ext uri="{FF2B5EF4-FFF2-40B4-BE49-F238E27FC236}">
                <a16:creationId xmlns:a16="http://schemas.microsoft.com/office/drawing/2014/main" id="{0B6EB48D-01B6-4536-89B0-B49BA4C6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4095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No aplicable por salto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La pregunta no corresponde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a la persona</a:t>
            </a:r>
          </a:p>
        </p:txBody>
      </p:sp>
      <p:sp>
        <p:nvSpPr>
          <p:cNvPr id="6" name="concepto_52">
            <a:extLst xmlns:a="http://schemas.openxmlformats.org/drawingml/2006/main">
              <a:ext uri="{FF2B5EF4-FFF2-40B4-BE49-F238E27FC236}">
                <a16:creationId xmlns:a16="http://schemas.microsoft.com/office/drawing/2014/main" id="{0EA1F0C9-777B-4E2A-9BE4-17F08B1E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62100"/>
            <a:ext cx="4095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No respuesta codificada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No sabe, no responde o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prefiere no responder</a:t>
            </a:r>
          </a:p>
        </p:txBody>
      </p:sp>
      <p:sp>
        <p:nvSpPr>
          <p:cNvPr id="7" name="concepto_53">
            <a:extLst xmlns:a="http://schemas.openxmlformats.org/drawingml/2006/main">
              <a:ext uri="{FF2B5EF4-FFF2-40B4-BE49-F238E27FC236}">
                <a16:creationId xmlns:a16="http://schemas.microsoft.com/office/drawing/2014/main" id="{A323673B-9998-4F9A-BAA9-74644045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562100"/>
            <a:ext cx="4095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2D7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Ausencia técnica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La duración de convivencia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no tiene referencia validada</a:t>
            </a:r>
          </a:p>
        </p:txBody>
      </p:sp>
      <p:sp>
        <p:nvSpPr>
          <p:cNvPr id="8" name="concepto_54">
            <a:extLst xmlns:a="http://schemas.openxmlformats.org/drawingml/2006/main">
              <a:ext uri="{FF2B5EF4-FFF2-40B4-BE49-F238E27FC236}">
                <a16:creationId xmlns:a16="http://schemas.microsoft.com/office/drawing/2014/main" id="{BF6159F8-55C4-4112-9B7F-31E5A609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40957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No imputar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Aplicar las condiciones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del cuestionario</a:t>
            </a:r>
          </a:p>
        </p:txBody>
      </p:sp>
      <p:sp>
        <p:nvSpPr>
          <p:cNvPr id="9" name="concepto_55">
            <a:extLst xmlns:a="http://schemas.openxmlformats.org/drawingml/2006/main">
              <a:ext uri="{FF2B5EF4-FFF2-40B4-BE49-F238E27FC236}">
                <a16:creationId xmlns:a16="http://schemas.microsoft.com/office/drawing/2014/main" id="{CD511F54-740C-41A2-B84C-CFF722E0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05150"/>
            <a:ext cx="40957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Recodificar por pregunta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883 celdas pasan a ausentes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Conservar los casos</a:t>
            </a:r>
          </a:p>
        </p:txBody>
      </p:sp>
      <p:sp>
        <p:nvSpPr>
          <p:cNvPr id="10" name="concepto_56">
            <a:extLst xmlns:a="http://schemas.openxmlformats.org/drawingml/2006/main">
              <a:ext uri="{FF2B5EF4-FFF2-40B4-BE49-F238E27FC236}">
                <a16:creationId xmlns:a16="http://schemas.microsoft.com/office/drawing/2014/main" id="{641E5766-EA97-470E-9A36-3E12C059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05150"/>
            <a:ext cx="4095750" cy="971550"/>
          </a:xfrm>
          <a:prstGeom xmlns:a="http://schemas.openxmlformats.org/drawingml/2006/main" prst="roundRect">
            <a:avLst>
              <a:gd name="adj" fmla="val 9804"/>
            </a:avLst>
          </a:prstGeom>
          <a:solidFill xmlns:a="http://schemas.openxmlformats.org/drawingml/2006/main">
            <a:srgbClr val="FFF2D7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Reservar sin calcular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8.579 valores ausentes</a:t>
            </a:r>
          </a:p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No son no respuestas</a:t>
            </a:r>
          </a:p>
        </p:txBody>
      </p:sp>
      <p:cxnSp>
        <p:nvCxnSpPr>
          <p:cNvPr id="32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619375" y="25146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12" name="texto_57">
            <a:extLst xmlns:a="http://schemas.openxmlformats.org/drawingml/2006/main">
              <a:ext uri="{FF2B5EF4-FFF2-40B4-BE49-F238E27FC236}">
                <a16:creationId xmlns:a16="http://schemas.microsoft.com/office/drawing/2014/main" id="{D3227083-7E21-4458-857E-3A5E71F9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289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se trata como</a:t>
            </a:r>
          </a:p>
        </p:txBody>
      </p:sp>
      <p:cxnSp>
        <p:nvCxnSpPr>
          <p:cNvPr id="34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620000" y="25146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14" name="texto_58">
            <a:extLst xmlns:a="http://schemas.openxmlformats.org/drawingml/2006/main">
              <a:ext uri="{FF2B5EF4-FFF2-40B4-BE49-F238E27FC236}">
                <a16:creationId xmlns:a16="http://schemas.microsoft.com/office/drawing/2014/main" id="{E5194538-F20F-411D-BDB7-701C052A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se identifica y</a:t>
            </a:r>
          </a:p>
        </p:txBody>
      </p:sp>
      <p:cxnSp>
        <p:nvCxnSpPr>
          <p:cNvPr id="36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620625" y="25146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16" name="texto_59">
            <a:extLst xmlns:a="http://schemas.openxmlformats.org/drawingml/2006/main">
              <a:ext uri="{FF2B5EF4-FFF2-40B4-BE49-F238E27FC236}">
                <a16:creationId xmlns:a16="http://schemas.microsoft.com/office/drawing/2014/main" id="{AEB24585-93C9-4B35-9932-934E5093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6289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requiere</a:t>
            </a:r>
          </a:p>
        </p:txBody>
      </p:sp>
      <p:sp>
        <p:nvSpPr>
          <p:cNvPr id="17" name="texto_60">
            <a:extLst xmlns:a="http://schemas.openxmlformats.org/drawingml/2006/main">
              <a:ext uri="{FF2B5EF4-FFF2-40B4-BE49-F238E27FC236}">
                <a16:creationId xmlns:a16="http://schemas.microsoft.com/office/drawing/2014/main" id="{B016A1B5-657F-4BB2-8961-46A36882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42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Aplicación documentada</a:t>
            </a:r>
          </a:p>
        </p:txBody>
      </p:sp>
      <p:sp>
        <p:nvSpPr>
          <p:cNvPr id="18" name="texto_61">
            <a:extLst xmlns:a="http://schemas.openxmlformats.org/drawingml/2006/main">
              <a:ext uri="{FF2B5EF4-FFF2-40B4-BE49-F238E27FC236}">
                <a16:creationId xmlns:a16="http://schemas.microsoft.com/office/drawing/2014/main" id="{78C8D9AB-F0E1-4B4B-9C3D-C135C46F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7048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Convivencia (p83), ingreso relativo (p92), dependencia (p93) y actividad sexual reciente (p96): requieren tener pareja (p81 = 1).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Inicio de convivencia (p84): requiere convivir (p83 = 1). El filtro conjunto satisface ambas condiciones.</a:t>
            </a:r>
          </a:p>
        </p:txBody>
      </p:sp>
      <p:sp>
        <p:nvSpPr>
          <p:cNvPr id="19" name="texto_62">
            <a:extLst xmlns:a="http://schemas.openxmlformats.org/drawingml/2006/main">
              <a:ext uri="{FF2B5EF4-FFF2-40B4-BE49-F238E27FC236}">
                <a16:creationId xmlns:a16="http://schemas.microsoft.com/office/drawing/2014/main" id="{559F358C-06D9-4F7F-A845-34B7C970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4342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Decisiones con evidencia</a:t>
            </a:r>
          </a:p>
        </p:txBody>
      </p:sp>
      <p:sp>
        <p:nvSpPr>
          <p:cNvPr id="20" name="texto_63">
            <a:extLst xmlns:a="http://schemas.openxmlformats.org/drawingml/2006/main">
              <a:ext uri="{FF2B5EF4-FFF2-40B4-BE49-F238E27FC236}">
                <a16:creationId xmlns:a16="http://schemas.microsoft.com/office/drawing/2014/main" id="{488AED65-E89E-40F5-B3E3-14491912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67300"/>
            <a:ext cx="6286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0 imputaciones y 0 eliminaciones por faltantes.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Se contrastaron eliminación, media y mediana.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Los extremos IQR se conservan para revisión.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Se mantienen códigos válidos como región 8 y 9.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La diferencia de edad se calcula como p4 − p91.</a:t>
            </a:r>
          </a:p>
        </p:txBody>
      </p:sp>
      <p:sp>
        <p:nvSpPr>
          <p:cNvPr id="21" name="texto_64">
            <a:extLst xmlns:a="http://schemas.openxmlformats.org/drawingml/2006/main">
              <a:ext uri="{FF2B5EF4-FFF2-40B4-BE49-F238E27FC236}">
                <a16:creationId xmlns:a16="http://schemas.microsoft.com/office/drawing/2014/main" id="{50864CF9-249A-423D-93F3-71A89630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24725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En las 19 columnas seleccionadas no había campos físicamente vacíos antes de recodificar. No se generaliza al resto de ENSSEX.</a:t>
            </a:r>
          </a:p>
        </p:txBody>
      </p:sp>
    </p:spTree>
    <p:extLst>
      <p:ext uri="{BB962C8B-B14F-4D97-AF65-F5344CB8AC3E}">
        <p14:creationId xmlns:p14="http://schemas.microsoft.com/office/powerpoint/2010/main" val="91422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o_65">
            <a:extLst xmlns:a="http://schemas.openxmlformats.org/drawingml/2006/main">
              <a:ext uri="{FF2B5EF4-FFF2-40B4-BE49-F238E27FC236}">
                <a16:creationId xmlns:a16="http://schemas.microsoft.com/office/drawing/2014/main" id="{4853519F-61A3-48D7-855F-4D60BB32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409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Entorno reproducible y arquitectura compartida</a:t>
            </a:r>
          </a:p>
        </p:txBody>
      </p:sp>
      <p:sp>
        <p:nvSpPr>
          <p:cNvPr id="2" name="texto_66">
            <a:extLst xmlns:a="http://schemas.openxmlformats.org/drawingml/2006/main">
              <a:ext uri="{FF2B5EF4-FFF2-40B4-BE49-F238E27FC236}">
                <a16:creationId xmlns:a16="http://schemas.microsoft.com/office/drawing/2014/main" id="{DD8A299A-DF4C-42F3-AC39-44EA82DD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Las rutas se calculan desde el proyecto y cada equipo crea su propio entorno</a:t>
            </a:r>
          </a:p>
        </p:txBody>
      </p:sp>
      <p:sp>
        <p:nvSpPr>
          <p:cNvPr id="3" name="texto_67">
            <a:extLst xmlns:a="http://schemas.openxmlformats.org/drawingml/2006/main">
              <a:ext uri="{FF2B5EF4-FFF2-40B4-BE49-F238E27FC236}">
                <a16:creationId xmlns:a16="http://schemas.microsoft.com/office/drawing/2014/main" id="{D5B2FF1C-7DCB-43BE-B87A-32D08D07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1314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MCDI500 · Sumativa 1 · Grupo 9 · Karla Patricia Pizarro Correa y Guillermo Antonio Osorio Zamora</a:t>
            </a:r>
          </a:p>
        </p:txBody>
      </p:sp>
      <p:sp>
        <p:nvSpPr>
          <p:cNvPr id="4" name="texto_68">
            <a:extLst xmlns:a="http://schemas.openxmlformats.org/drawingml/2006/main">
              <a:ext uri="{FF2B5EF4-FFF2-40B4-BE49-F238E27FC236}">
                <a16:creationId xmlns:a16="http://schemas.microsoft.com/office/drawing/2014/main" id="{A3C0B453-573B-4C61-A054-5FF07175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15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" name="concepto_69">
            <a:extLst xmlns:a="http://schemas.openxmlformats.org/drawingml/2006/main">
              <a:ext uri="{FF2B5EF4-FFF2-40B4-BE49-F238E27FC236}">
                <a16:creationId xmlns:a16="http://schemas.microsoft.com/office/drawing/2014/main" id="{F70775B4-0818-40B6-9DE7-4EE918DB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14475"/>
            <a:ext cx="41910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Python 3.13.15</a:t>
            </a:r>
          </a:p>
          <a:p xmlns:a="http://schemas.openxmlformats.org/drawingml/2006/main">
            <a:pPr algn="ctr">
              <a:defRPr sz="210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Entorno virtual .venv</a:t>
            </a:r>
          </a:p>
        </p:txBody>
      </p:sp>
      <p:sp>
        <p:nvSpPr>
          <p:cNvPr id="6" name="concepto_70">
            <a:extLst xmlns:a="http://schemas.openxmlformats.org/drawingml/2006/main">
              <a:ext uri="{FF2B5EF4-FFF2-40B4-BE49-F238E27FC236}">
                <a16:creationId xmlns:a16="http://schemas.microsoft.com/office/drawing/2014/main" id="{5E60A6B0-7B34-4B74-850D-5A0359BE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14475"/>
            <a:ext cx="35242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requirements.txt</a:t>
            </a:r>
          </a:p>
          <a:p xmlns:a="http://schemas.openxmlformats.org/drawingml/2006/main">
            <a:pPr algn="ctr">
              <a:defRPr sz="210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121 versiones fijadas</a:t>
            </a:r>
          </a:p>
        </p:txBody>
      </p:sp>
      <p:sp>
        <p:nvSpPr>
          <p:cNvPr id="7" name="concepto_71">
            <a:extLst xmlns:a="http://schemas.openxmlformats.org/drawingml/2006/main">
              <a:ext uri="{FF2B5EF4-FFF2-40B4-BE49-F238E27FC236}">
                <a16:creationId xmlns:a16="http://schemas.microsoft.com/office/drawing/2014/main" id="{BB87E716-A7E8-497B-B346-2EB31674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514475"/>
            <a:ext cx="35242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Kernel del proyecto</a:t>
            </a:r>
          </a:p>
          <a:p xmlns:a="http://schemas.openxmlformats.org/drawingml/2006/main">
            <a:pPr algn="ctr">
              <a:defRPr sz="210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Ejecuta F1 y F2</a:t>
            </a:r>
          </a:p>
        </p:txBody>
      </p: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095750" y="19621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9" name="texto_72">
            <a:extLst xmlns:a="http://schemas.openxmlformats.org/drawingml/2006/main">
              <a:ext uri="{FF2B5EF4-FFF2-40B4-BE49-F238E27FC236}">
                <a16:creationId xmlns:a16="http://schemas.microsoft.com/office/drawing/2014/main" id="{7D8D293E-B75B-403B-AE31-4135318E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se instala en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715500" y="19621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11" name="texto_73">
            <a:extLst xmlns:a="http://schemas.openxmlformats.org/drawingml/2006/main">
              <a:ext uri="{FF2B5EF4-FFF2-40B4-BE49-F238E27FC236}">
                <a16:creationId xmlns:a16="http://schemas.microsoft.com/office/drawing/2014/main" id="{FDC7D708-ABEA-4A53-B649-0C4C0374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5621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provee Python</a:t>
            </a:r>
          </a:p>
        </p:txBody>
      </p:sp>
      <p:sp>
        <p:nvSpPr>
          <p:cNvPr id="12" name="texto_74">
            <a:extLst xmlns:a="http://schemas.openxmlformats.org/drawingml/2006/main">
              <a:ext uri="{FF2B5EF4-FFF2-40B4-BE49-F238E27FC236}">
                <a16:creationId xmlns:a16="http://schemas.microsoft.com/office/drawing/2014/main" id="{21B4176E-1BE4-4E8E-A37F-7B2C06EA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9557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El kernel usa el intérprete de .venv; el entorno se reconstruye y no se publica.</a:t>
            </a:r>
          </a:p>
        </p:txBody>
      </p:sp>
      <p:sp>
        <p:nvSpPr>
          <p:cNvPr id="13" name="texto_75">
            <a:extLst xmlns:a="http://schemas.openxmlformats.org/drawingml/2006/main">
              <a:ext uri="{FF2B5EF4-FFF2-40B4-BE49-F238E27FC236}">
                <a16:creationId xmlns:a16="http://schemas.microsoft.com/office/drawing/2014/main" id="{C9BAC090-68BA-4BB9-AF2F-72F5FB3E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871537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proyecto-enssex/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  F1/data/raw/          Original y copia íntegra CSV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  F1/data/processed/    Dos CSV preparados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  F1/src/               Funciones compartidas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  F1/notebooks/         Definición y entorno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  F1/docs/              Obtención y reproducción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  F2/notebooks/         Preparación y validación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  F2/docs/              Diccionario, esquema y bitácora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  F3/ y F4/             Fases posteriores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  docs/                 Informe y anexos</a:t>
            </a:r>
          </a:p>
        </p:txBody>
      </p:sp>
      <p:sp>
        <p:nvSpPr>
          <p:cNvPr id="14" name="texto_76">
            <a:extLst xmlns:a="http://schemas.openxmlformats.org/drawingml/2006/main">
              <a:ext uri="{FF2B5EF4-FFF2-40B4-BE49-F238E27FC236}">
                <a16:creationId xmlns:a16="http://schemas.microsoft.com/office/drawing/2014/main" id="{EF4BA785-BC25-43A4-80BB-E35DD142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813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Archivos de gobierno</a:t>
            </a:r>
          </a:p>
        </p:txBody>
      </p:sp>
      <p:sp>
        <p:nvSpPr>
          <p:cNvPr id="15" name="texto_77">
            <a:extLst xmlns:a="http://schemas.openxmlformats.org/drawingml/2006/main">
              <a:ext uri="{FF2B5EF4-FFF2-40B4-BE49-F238E27FC236}">
                <a16:creationId xmlns:a16="http://schemas.microsoft.com/office/drawing/2014/main" id="{C92E73E6-5E5D-4BC9-AD79-CEA79EB3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43350"/>
            <a:ext cx="4667250" cy="2962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README.md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Explica el proyecto y su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requirements.txt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Fija las dependencias.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.gitignore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Excluye .venv y los datos originales.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Permite los dos CSV procesados.</a:t>
            </a:r>
          </a:p>
        </p:txBody>
      </p:sp>
      <p:sp>
        <p:nvSpPr>
          <p:cNvPr id="16" name="texto_78">
            <a:extLst xmlns:a="http://schemas.openxmlformats.org/drawingml/2006/main">
              <a:ext uri="{FF2B5EF4-FFF2-40B4-BE49-F238E27FC236}">
                <a16:creationId xmlns:a16="http://schemas.microsoft.com/office/drawing/2014/main" id="{B859764A-65CF-4758-AE0B-75E6D9CC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0"/>
            <a:ext cx="1409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Al clonar: código, notebooks, CSV procesados y diccionario. Para reproducir: obtener el original con el script documentado.</a:t>
            </a:r>
          </a:p>
        </p:txBody>
      </p:sp>
    </p:spTree>
    <p:extLst>
      <p:ext uri="{BB962C8B-B14F-4D97-AF65-F5344CB8AC3E}">
        <p14:creationId xmlns:p14="http://schemas.microsoft.com/office/powerpoint/2010/main" val="14525721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o_79">
            <a:extLst xmlns:a="http://schemas.openxmlformats.org/drawingml/2006/main">
              <a:ext uri="{FF2B5EF4-FFF2-40B4-BE49-F238E27FC236}">
                <a16:creationId xmlns:a16="http://schemas.microsoft.com/office/drawing/2014/main" id="{2881FDAB-686F-45B5-B290-87F0937E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409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Cada principio tiene una evidencia en el proceso</a:t>
            </a:r>
          </a:p>
        </p:txBody>
      </p:sp>
      <p:sp>
        <p:nvSpPr>
          <p:cNvPr id="2" name="texto_80">
            <a:extLst xmlns:a="http://schemas.openxmlformats.org/drawingml/2006/main">
              <a:ext uri="{FF2B5EF4-FFF2-40B4-BE49-F238E27FC236}">
                <a16:creationId xmlns:a16="http://schemas.microsoft.com/office/drawing/2014/main" id="{E6E6BE98-5BAE-4AD9-9D34-BE357DFE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La herramienta se vincula con una etapa y con el registro que permite comprobarla</a:t>
            </a:r>
          </a:p>
        </p:txBody>
      </p:sp>
      <p:sp>
        <p:nvSpPr>
          <p:cNvPr id="3" name="texto_81">
            <a:extLst xmlns:a="http://schemas.openxmlformats.org/drawingml/2006/main">
              <a:ext uri="{FF2B5EF4-FFF2-40B4-BE49-F238E27FC236}">
                <a16:creationId xmlns:a16="http://schemas.microsoft.com/office/drawing/2014/main" id="{05BF2680-6BA5-4FE4-9F5D-1E3A767F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1314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MCDI500 · Sumativa 1 · Grupo 9 · Karla Patricia Pizarro Correa y Guillermo Antonio Osorio Zamora</a:t>
            </a:r>
          </a:p>
        </p:txBody>
      </p:sp>
      <p:sp>
        <p:nvSpPr>
          <p:cNvPr id="4" name="texto_82">
            <a:extLst xmlns:a="http://schemas.openxmlformats.org/drawingml/2006/main">
              <a:ext uri="{FF2B5EF4-FFF2-40B4-BE49-F238E27FC236}">
                <a16:creationId xmlns:a16="http://schemas.microsoft.com/office/drawing/2014/main" id="{526940A8-69A4-4AF6-B9B2-3F41137A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15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5" name="concepto_83">
            <a:extLst xmlns:a="http://schemas.openxmlformats.org/drawingml/2006/main">
              <a:ext uri="{FF2B5EF4-FFF2-40B4-BE49-F238E27FC236}">
                <a16:creationId xmlns:a16="http://schemas.microsoft.com/office/drawing/2014/main" id="{A2A83B1D-7C28-4928-9AC1-A83549FF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286125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Obtención y carga</a:t>
            </a:r>
          </a:p>
        </p:txBody>
      </p:sp>
      <p:sp>
        <p:nvSpPr>
          <p:cNvPr id="6" name="concepto_84">
            <a:extLst xmlns:a="http://schemas.openxmlformats.org/drawingml/2006/main">
              <a:ext uri="{FF2B5EF4-FFF2-40B4-BE49-F238E27FC236}">
                <a16:creationId xmlns:a16="http://schemas.microsoft.com/office/drawing/2014/main" id="{A6C9DA9B-3EA2-48EA-948B-C7B81C8F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571625"/>
            <a:ext cx="495300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Script de conversión + SHA-256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SAV y CSV verificados</a:t>
            </a:r>
          </a:p>
        </p:txBody>
      </p:sp>
      <p:sp>
        <p:nvSpPr>
          <p:cNvPr id="7" name="concepto_85">
            <a:extLst xmlns:a="http://schemas.openxmlformats.org/drawingml/2006/main">
              <a:ext uri="{FF2B5EF4-FFF2-40B4-BE49-F238E27FC236}">
                <a16:creationId xmlns:a16="http://schemas.microsoft.com/office/drawing/2014/main" id="{031C4AA2-6A6B-48AD-9BAF-00F3856C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571625"/>
            <a:ext cx="304800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Reproducibilidad</a:t>
            </a:r>
          </a:p>
          <a:p xmlns:a="http://schemas.openxmlformats.org/drawingml/2006/main">
            <a:pPr algn="ctr">
              <a:defRPr sz="180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Reconstruir la misma entrada</a:t>
            </a:r>
          </a:p>
        </p:txBody>
      </p: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57625" y="20383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9" name="texto_86">
            <a:extLst xmlns:a="http://schemas.openxmlformats.org/drawingml/2006/main">
              <a:ext uri="{FF2B5EF4-FFF2-40B4-BE49-F238E27FC236}">
                <a16:creationId xmlns:a16="http://schemas.microsoft.com/office/drawing/2014/main" id="{D19D5E5D-3486-4391-AFB4-7F566349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09725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se registra en</a:t>
            </a:r>
          </a:p>
        </p:txBody>
      </p: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239375" y="203835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11" name="texto_87">
            <a:extLst xmlns:a="http://schemas.openxmlformats.org/drawingml/2006/main">
              <a:ext uri="{FF2B5EF4-FFF2-40B4-BE49-F238E27FC236}">
                <a16:creationId xmlns:a16="http://schemas.microsoft.com/office/drawing/2014/main" id="{A27D5E4A-35C5-48E9-AB03-ACD7EDB9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60972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permite</a:t>
            </a:r>
          </a:p>
        </p:txBody>
      </p:sp>
      <p:sp>
        <p:nvSpPr>
          <p:cNvPr id="12" name="concepto_88">
            <a:extLst xmlns:a="http://schemas.openxmlformats.org/drawingml/2006/main">
              <a:ext uri="{FF2B5EF4-FFF2-40B4-BE49-F238E27FC236}">
                <a16:creationId xmlns:a16="http://schemas.microsoft.com/office/drawing/2014/main" id="{9197220D-BFFB-4814-9A74-72F629F4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3286125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Exploración y preparación</a:t>
            </a:r>
          </a:p>
        </p:txBody>
      </p:sp>
      <p:sp>
        <p:nvSpPr>
          <p:cNvPr id="13" name="concepto_89">
            <a:extLst xmlns:a="http://schemas.openxmlformats.org/drawingml/2006/main">
              <a:ext uri="{FF2B5EF4-FFF2-40B4-BE49-F238E27FC236}">
                <a16:creationId xmlns:a16="http://schemas.microsoft.com/office/drawing/2014/main" id="{CECEAB9C-13FE-475F-99DD-8EA8873F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71800"/>
            <a:ext cx="495300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Celdas narrativas + diccionario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Bitácora: motivo, alternativa y cifra</a:t>
            </a:r>
          </a:p>
        </p:txBody>
      </p:sp>
      <p:sp>
        <p:nvSpPr>
          <p:cNvPr id="14" name="concepto_90">
            <a:extLst xmlns:a="http://schemas.openxmlformats.org/drawingml/2006/main">
              <a:ext uri="{FF2B5EF4-FFF2-40B4-BE49-F238E27FC236}">
                <a16:creationId xmlns:a16="http://schemas.microsoft.com/office/drawing/2014/main" id="{459F09F6-D0F7-4987-910B-C8C2697D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971800"/>
            <a:ext cx="304800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Documentación</a:t>
            </a:r>
          </a:p>
          <a:p xmlns:a="http://schemas.openxmlformats.org/drawingml/2006/main">
            <a:pPr algn="ctr">
              <a:defRPr sz="180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Explicar cada decisión</a:t>
            </a:r>
          </a:p>
        </p:txBody>
      </p:sp>
      <p:cxnSp>
        <p:nvCxnSpPr>
          <p:cNvPr id="4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57625" y="34385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16" name="texto_91">
            <a:extLst xmlns:a="http://schemas.openxmlformats.org/drawingml/2006/main">
              <a:ext uri="{FF2B5EF4-FFF2-40B4-BE49-F238E27FC236}">
                <a16:creationId xmlns:a16="http://schemas.microsoft.com/office/drawing/2014/main" id="{FF6E6D33-66BA-40F8-BD3B-BAF03A92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0990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se registra en</a:t>
            </a:r>
          </a:p>
        </p:txBody>
      </p:sp>
      <p:cxnSp>
        <p:nvCxnSpPr>
          <p:cNvPr id="5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239375" y="34385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18" name="texto_92">
            <a:extLst xmlns:a="http://schemas.openxmlformats.org/drawingml/2006/main">
              <a:ext uri="{FF2B5EF4-FFF2-40B4-BE49-F238E27FC236}">
                <a16:creationId xmlns:a16="http://schemas.microsoft.com/office/drawing/2014/main" id="{90D464EA-4903-45FE-AAB8-4E25B333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099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permite</a:t>
            </a:r>
          </a:p>
        </p:txBody>
      </p:sp>
      <p:sp>
        <p:nvSpPr>
          <p:cNvPr id="19" name="concepto_93">
            <a:extLst xmlns:a="http://schemas.openxmlformats.org/drawingml/2006/main">
              <a:ext uri="{FF2B5EF4-FFF2-40B4-BE49-F238E27FC236}">
                <a16:creationId xmlns:a16="http://schemas.microsoft.com/office/drawing/2014/main" id="{99198EA5-247C-4F00-B140-45BECB10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3286125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Cambios en código y resultados</a:t>
            </a:r>
          </a:p>
        </p:txBody>
      </p:sp>
      <p:sp>
        <p:nvSpPr>
          <p:cNvPr id="20" name="concepto_94">
            <a:extLst xmlns:a="http://schemas.openxmlformats.org/drawingml/2006/main">
              <a:ext uri="{FF2B5EF4-FFF2-40B4-BE49-F238E27FC236}">
                <a16:creationId xmlns:a16="http://schemas.microsoft.com/office/drawing/2014/main" id="{7F8DAFC5-FE3D-4733-BB6D-D46D447B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71975"/>
            <a:ext cx="495300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Git registra commits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GitHub comparte el historial</a:t>
            </a:r>
          </a:p>
        </p:txBody>
      </p:sp>
      <p:sp>
        <p:nvSpPr>
          <p:cNvPr id="21" name="concepto_95">
            <a:extLst xmlns:a="http://schemas.openxmlformats.org/drawingml/2006/main">
              <a:ext uri="{FF2B5EF4-FFF2-40B4-BE49-F238E27FC236}">
                <a16:creationId xmlns:a16="http://schemas.microsoft.com/office/drawing/2014/main" id="{E4845324-443F-4B2E-B83D-C30E84C5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371975"/>
            <a:ext cx="304800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Trazabilidad</a:t>
            </a:r>
          </a:p>
          <a:p xmlns:a="http://schemas.openxmlformats.org/drawingml/2006/main">
            <a:pPr algn="ctr">
              <a:defRPr sz="180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Identificar qué cambió y quién</a:t>
            </a:r>
          </a:p>
        </p:txBody>
      </p:sp>
      <p:cxnSp>
        <p:nvCxnSpPr>
          <p:cNvPr id="55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857625" y="48387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23" name="texto_96">
            <a:extLst xmlns:a="http://schemas.openxmlformats.org/drawingml/2006/main">
              <a:ext uri="{FF2B5EF4-FFF2-40B4-BE49-F238E27FC236}">
                <a16:creationId xmlns:a16="http://schemas.microsoft.com/office/drawing/2014/main" id="{1E3DB2FF-158F-424C-B985-58132AFE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se registra en</a:t>
            </a:r>
          </a:p>
        </p:txBody>
      </p:sp>
      <p:cxnSp>
        <p:nvCxnSpPr>
          <p:cNvPr id="57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0239375" y="483870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25" name="texto_97">
            <a:extLst xmlns:a="http://schemas.openxmlformats.org/drawingml/2006/main">
              <a:ext uri="{FF2B5EF4-FFF2-40B4-BE49-F238E27FC236}">
                <a16:creationId xmlns:a16="http://schemas.microsoft.com/office/drawing/2014/main" id="{0CDF3A4E-7DB6-41E4-8518-DCA6ED50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410075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permite</a:t>
            </a:r>
          </a:p>
        </p:txBody>
      </p:sp>
      <p:sp>
        <p:nvSpPr>
          <p:cNvPr id="26" name="concepto_98">
            <a:extLst xmlns:a="http://schemas.openxmlformats.org/drawingml/2006/main">
              <a:ext uri="{FF2B5EF4-FFF2-40B4-BE49-F238E27FC236}">
                <a16:creationId xmlns:a16="http://schemas.microsoft.com/office/drawing/2014/main" id="{DD5CBA59-8448-4E12-BE70-ACF49E5F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3286125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5F0FC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Validación y exportación</a:t>
            </a:r>
          </a:p>
        </p:txBody>
      </p:sp>
      <p:sp>
        <p:nvSpPr>
          <p:cNvPr id="27" name="concepto_99">
            <a:extLst xmlns:a="http://schemas.openxmlformats.org/drawingml/2006/main">
              <a:ext uri="{FF2B5EF4-FFF2-40B4-BE49-F238E27FC236}">
                <a16:creationId xmlns:a16="http://schemas.microsoft.com/office/drawing/2014/main" id="{4DFFE242-AC7A-47C3-BA23-0607EFF6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772150"/>
            <a:ext cx="495300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130 invariantes + 21 casos</a:t>
            </a:r>
          </a:p>
          <a:p xmlns:a="http://schemas.openxmlformats.org/drawingml/2006/main">
            <a:pPr algn="ctr">
              <a:defRPr sz="195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Relectura de los dos CSV</a:t>
            </a:r>
          </a:p>
        </p:txBody>
      </p:sp>
      <p:sp>
        <p:nvSpPr>
          <p:cNvPr id="28" name="concepto_100">
            <a:extLst xmlns:a="http://schemas.openxmlformats.org/drawingml/2006/main">
              <a:ext uri="{FF2B5EF4-FFF2-40B4-BE49-F238E27FC236}">
                <a16:creationId xmlns:a16="http://schemas.microsoft.com/office/drawing/2014/main" id="{077D92E7-5861-4EBE-8D48-B6DD0380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772150"/>
            <a:ext cx="3048000" cy="933450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4F3EA"/>
          </a:solidFill>
          <a:ln xmlns:a="http://schemas.openxmlformats.org/drawingml/2006/main" w="12383">
            <a:solidFill>
              <a:srgbClr val="61788D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Reproducibilidad y trazabilidad</a:t>
            </a:r>
          </a:p>
          <a:p xmlns:a="http://schemas.openxmlformats.org/drawingml/2006/main">
            <a:pPr algn="ctr">
              <a:defRPr sz="180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Contrastar entradas y salidas</a:t>
            </a:r>
          </a:p>
        </p:txBody>
      </p:sp>
      <p:cxnSp>
        <p:nvCxnSpPr>
          <p:cNvPr id="62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857625" y="623887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30" name="texto_101">
            <a:extLst xmlns:a="http://schemas.openxmlformats.org/drawingml/2006/main">
              <a:ext uri="{FF2B5EF4-FFF2-40B4-BE49-F238E27FC236}">
                <a16:creationId xmlns:a16="http://schemas.microsoft.com/office/drawing/2014/main" id="{E17E223B-7C44-4C93-93A0-4736FF8B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810250"/>
            <a:ext cx="1381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se registra en</a:t>
            </a:r>
          </a:p>
        </p:txBody>
      </p:sp>
      <p:cxnSp>
        <p:nvCxnSpPr>
          <p:cNvPr id="64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0239375" y="623887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88D"/>
            </a:solidFill>
            <a:prstDash val="solid"/>
            <a:tailEnd type="triangle" w="sm" len="sm"/>
          </a:ln>
        </p:spPr>
      </p:cxnSp>
      <p:sp>
        <p:nvSpPr>
          <p:cNvPr id="32" name="texto_102">
            <a:extLst xmlns:a="http://schemas.openxmlformats.org/drawingml/2006/main">
              <a:ext uri="{FF2B5EF4-FFF2-40B4-BE49-F238E27FC236}">
                <a16:creationId xmlns:a16="http://schemas.microsoft.com/office/drawing/2014/main" id="{BB24A14D-92A3-408A-A19D-DA29491D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8102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permite</a:t>
            </a:r>
          </a:p>
        </p:txBody>
      </p:sp>
      <p:sp>
        <p:nvSpPr>
          <p:cNvPr id="33" name="texto_103">
            <a:extLst xmlns:a="http://schemas.openxmlformats.org/drawingml/2006/main">
              <a:ext uri="{FF2B5EF4-FFF2-40B4-BE49-F238E27FC236}">
                <a16:creationId xmlns:a16="http://schemas.microsoft.com/office/drawing/2014/main" id="{E5B6DC50-6C47-4760-8181-F2CC38FB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62825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El README y la guía permiten repetir todo el flujo. NumPy y pandas operan dentro de funciones; JupyterLab reúne código, salidas y explicación.</a:t>
            </a:r>
          </a:p>
        </p:txBody>
      </p:sp>
    </p:spTree>
    <p:extLst>
      <p:ext uri="{BB962C8B-B14F-4D97-AF65-F5344CB8AC3E}">
        <p14:creationId xmlns:p14="http://schemas.microsoft.com/office/powerpoint/2010/main" val="5466872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o_104">
            <a:extLst xmlns:a="http://schemas.openxmlformats.org/drawingml/2006/main">
              <a:ext uri="{FF2B5EF4-FFF2-40B4-BE49-F238E27FC236}">
                <a16:creationId xmlns:a16="http://schemas.microsoft.com/office/drawing/2014/main" id="{5108E1E3-591A-489F-BF63-69CC6B7F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409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Evolución de la planificación y continuidad</a:t>
            </a:r>
          </a:p>
        </p:txBody>
      </p:sp>
      <p:sp>
        <p:nvSpPr>
          <p:cNvPr id="2" name="texto_105">
            <a:extLst xmlns:a="http://schemas.openxmlformats.org/drawingml/2006/main">
              <a:ext uri="{FF2B5EF4-FFF2-40B4-BE49-F238E27FC236}">
                <a16:creationId xmlns:a16="http://schemas.microsoft.com/office/drawing/2014/main" id="{5292A77F-B96F-4834-9AF3-EDFC4983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El mapa original se conserva como antecedente; esta versión documenta las decisiones posteriores</a:t>
            </a:r>
          </a:p>
        </p:txBody>
      </p:sp>
      <p:sp>
        <p:nvSpPr>
          <p:cNvPr id="3" name="texto_106">
            <a:extLst xmlns:a="http://schemas.openxmlformats.org/drawingml/2006/main">
              <a:ext uri="{FF2B5EF4-FFF2-40B4-BE49-F238E27FC236}">
                <a16:creationId xmlns:a16="http://schemas.microsoft.com/office/drawing/2014/main" id="{589CCF5B-33BC-4DBB-943B-0F610D66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1314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MCDI500 · Sumativa 1 · Grupo 9 · Karla Patricia Pizarro Correa y Guillermo Antonio Osorio Zamora</a:t>
            </a:r>
          </a:p>
        </p:txBody>
      </p:sp>
      <p:sp>
        <p:nvSpPr>
          <p:cNvPr id="4" name="texto_107">
            <a:extLst xmlns:a="http://schemas.openxmlformats.org/drawingml/2006/main">
              <a:ext uri="{FF2B5EF4-FFF2-40B4-BE49-F238E27FC236}">
                <a16:creationId xmlns:a16="http://schemas.microsoft.com/office/drawing/2014/main" id="{24BE7425-8D09-4792-8879-E342BA19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15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14097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5905500"/>
                <a:gridCol w="4095750"/>
              </a:tblGrid>
              <a:tr h="704850">
                <a:tc>
                  <a:txBody>
                    <a:bodyPr lIns="11430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En la Formativa 1</a:t>
                      </a:r>
                    </a:p>
                  </a:txBody>
                  <a:tcPr marL="91440" marR="91440" marT="45720" marB="45720" anchor="ctr">
                    <a:solidFill>
                      <a:srgbClr val="1530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Decisión actual</a:t>
                      </a:r>
                    </a:p>
                  </a:txBody>
                  <a:tcPr marL="91440" marR="91440" marT="45720" marB="45720" anchor="ctr">
                    <a:solidFill>
                      <a:srgbClr val="15304B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Motivo</a:t>
                      </a:r>
                    </a:p>
                  </a:txBody>
                  <a:tcPr marL="91440" marR="91440" marT="45720" marB="45720" anchor="ctr">
                    <a:solidFill>
                      <a:srgbClr val="15304B"/>
                    </a:solidFill>
                  </a:tcPr>
                </a:tc>
              </a:tr>
              <a:tr h="704850">
                <a:tc>
                  <a:txBody>
                    <a:bodyPr lIns="114300" tIns="76200" rIns="114300" bIns="76200"/>
                    <a:lstStyle/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Tres dimensiones generales de bienestar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Dependencia económica y dos valoraciones</a:t>
                      </a:r>
                    </a:p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Calidad de vida como complementaria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Delimitar una pregunta medible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14300" tIns="76200" rIns="114300" bIns="76200"/>
                    <a:lstStyle/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Todas las personas adultas encuestadas</a:t>
                      </a:r>
                    </a:p>
                  </a:txBody>
                  <a:tcPr marL="91440" marR="91440" marT="45720" marB="45720" anchor="ctr">
                    <a:solidFill>
                      <a:srgbClr val="F0F2F5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8.579 personas que tienen pareja y conviven</a:t>
                      </a:r>
                    </a:p>
                  </a:txBody>
                  <a:tcPr marL="91440" marR="91440" marT="45720" marB="45720" anchor="ctr">
                    <a:solidFill>
                      <a:srgbClr val="F0F2F5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Ajustar la población al fenómeno</a:t>
                      </a:r>
                    </a:p>
                  </a:txBody>
                  <a:tcPr marL="91440" marR="91440" marT="45720" marB="45720" anchor="ctr">
                    <a:solidFill>
                      <a:srgbClr val="F0F2F5"/>
                    </a:solidFill>
                  </a:tcPr>
                </a:tc>
              </a:tr>
              <a:tr h="704850">
                <a:tc>
                  <a:txBody>
                    <a:bodyPr lIns="114300" tIns="76200" rIns="114300" bIns="76200"/>
                    <a:lstStyle/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Variables por seleccionar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19 originales justificadas y 2 derivadas</a:t>
                      </a:r>
                    </a:p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Una derivada se mantiene sin calcular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Vincular conceptos, preguntas y datos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 lIns="114300" tIns="76200" rIns="114300" bIns="76200"/>
                    <a:lstStyle/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Transformaciones previstas sin resultados</a:t>
                      </a:r>
                    </a:p>
                  </a:txBody>
                  <a:tcPr marL="91440" marR="91440" marT="45720" marB="45720" anchor="ctr">
                    <a:solidFill>
                      <a:srgbClr val="F0F2F5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883 recodificaciones, 0 imputaciones</a:t>
                      </a:r>
                    </a:p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130 invariantes y 21 casos superados</a:t>
                      </a:r>
                    </a:p>
                  </a:txBody>
                  <a:tcPr marL="91440" marR="91440" marT="45720" marB="45720" anchor="ctr">
                    <a:solidFill>
                      <a:srgbClr val="F0F2F5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875" b="0">
                          <a:solidFill>
                            <a:srgbClr val="15304B"/>
                          </a:solidFill>
                          <a:latin typeface="Calibri"/>
                          <a:ea typeface="Calibri"/>
                          <a:cs typeface="Calibri"/>
                        </a:rPr>
                        <a:t>Medir el efecto de cada decisión</a:t>
                      </a:r>
                    </a:p>
                  </a:txBody>
                  <a:tcPr marL="91440" marR="91440" marT="45720" marB="45720"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6" name="texto_108">
            <a:extLst xmlns:a="http://schemas.openxmlformats.org/drawingml/2006/main">
              <a:ext uri="{FF2B5EF4-FFF2-40B4-BE49-F238E27FC236}">
                <a16:creationId xmlns:a16="http://schemas.microsoft.com/office/drawing/2014/main" id="{6E7BF070-5A51-401D-A670-DC82D022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Reflexión técnica</a:t>
            </a:r>
          </a:p>
        </p:txBody>
      </p:sp>
      <p:sp>
        <p:nvSpPr>
          <p:cNvPr id="7" name="texto_109">
            <a:extLst xmlns:a="http://schemas.openxmlformats.org/drawingml/2006/main">
              <a:ext uri="{FF2B5EF4-FFF2-40B4-BE49-F238E27FC236}">
                <a16:creationId xmlns:a16="http://schemas.microsoft.com/office/drawing/2014/main" id="{08921035-7E81-4B8F-95F2-A53D1DBE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6715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El CSV defectuoso llevó a reconstruir la entrada desde el SAV. Después, la selección explícita y las pruebas permitieron justificar cada transformación. Conservar faltantes evita atribuir respuestas no observadas.</a:t>
            </a:r>
          </a:p>
        </p:txBody>
      </p:sp>
      <p:sp>
        <p:nvSpPr>
          <p:cNvPr id="8" name="texto_110">
            <a:extLst xmlns:a="http://schemas.openxmlformats.org/drawingml/2006/main">
              <a:ext uri="{FF2B5EF4-FFF2-40B4-BE49-F238E27FC236}">
                <a16:creationId xmlns:a16="http://schemas.microsoft.com/office/drawing/2014/main" id="{A78D7CDD-EB73-4135-BE7E-2D195047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F3 y F4: componentes proyectados</a:t>
            </a:r>
          </a:p>
        </p:txBody>
      </p:sp>
      <p:sp>
        <p:nvSpPr>
          <p:cNvPr id="9" name="texto_111">
            <a:extLst xmlns:a="http://schemas.openxmlformats.org/drawingml/2006/main">
              <a:ext uri="{FF2B5EF4-FFF2-40B4-BE49-F238E27FC236}">
                <a16:creationId xmlns:a16="http://schemas.microsoft.com/office/drawing/2014/main" id="{BBF328ED-F50C-4B1E-B6F2-ACE7A7EC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53125"/>
            <a:ext cx="6572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Comparar distribuciones por dependencia.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Revisar denominadores y grupos pequeños.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Interpretar patrones sin causalidad.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Comunicar resultados y limitaciones.</a:t>
            </a:r>
          </a:p>
          <a:p xmlns:a="http://schemas.openxmlformats.org/drawingml/2006/main">
            <a:pPr algn="l">
              <a:defRPr sz="19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Revisar decisiones mediante los retornos.</a:t>
            </a:r>
          </a:p>
        </p:txBody>
      </p:sp>
    </p:spTree>
    <p:extLst>
      <p:ext uri="{BB962C8B-B14F-4D97-AF65-F5344CB8AC3E}">
        <p14:creationId xmlns:p14="http://schemas.microsoft.com/office/powerpoint/2010/main" val="18884093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o_112">
            <a:extLst xmlns:a="http://schemas.openxmlformats.org/drawingml/2006/main">
              <a:ext uri="{FF2B5EF4-FFF2-40B4-BE49-F238E27FC236}">
                <a16:creationId xmlns:a16="http://schemas.microsoft.com/office/drawing/2014/main" id="{F9AF42DC-E6E5-44A6-9CCF-8DAA177E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409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Fuentes y evidencias de la vinculación</a:t>
            </a:r>
          </a:p>
        </p:txBody>
      </p:sp>
      <p:sp>
        <p:nvSpPr>
          <p:cNvPr id="2" name="texto_113">
            <a:extLst xmlns:a="http://schemas.openxmlformats.org/drawingml/2006/main">
              <a:ext uri="{FF2B5EF4-FFF2-40B4-BE49-F238E27FC236}">
                <a16:creationId xmlns:a16="http://schemas.microsoft.com/office/drawing/2014/main" id="{A2303920-9DA5-45FB-BB37-F19AE829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409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La tabla de correspondencia del informe identifica el estado y la evidencia de cada elemento</a:t>
            </a:r>
          </a:p>
        </p:txBody>
      </p:sp>
      <p:sp>
        <p:nvSpPr>
          <p:cNvPr id="3" name="texto_114">
            <a:extLst xmlns:a="http://schemas.openxmlformats.org/drawingml/2006/main">
              <a:ext uri="{FF2B5EF4-FFF2-40B4-BE49-F238E27FC236}">
                <a16:creationId xmlns:a16="http://schemas.microsoft.com/office/drawing/2014/main" id="{2847CECB-0400-42A4-8EB0-5635CFBB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1314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MCDI500 · Sumativa 1 · Grupo 9 · Karla Patricia Pizarro Correa y Guillermo Antonio Osorio Zamora</a:t>
            </a:r>
          </a:p>
        </p:txBody>
      </p:sp>
      <p:sp>
        <p:nvSpPr>
          <p:cNvPr id="4" name="texto_115">
            <a:extLst xmlns:a="http://schemas.openxmlformats.org/drawingml/2006/main">
              <a:ext uri="{FF2B5EF4-FFF2-40B4-BE49-F238E27FC236}">
                <a16:creationId xmlns:a16="http://schemas.microsoft.com/office/drawing/2014/main" id="{87C56408-616F-4A03-BC40-ACF4625A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15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5" name="texto_116">
            <a:extLst xmlns:a="http://schemas.openxmlformats.org/drawingml/2006/main">
              <a:ext uri="{FF2B5EF4-FFF2-40B4-BE49-F238E27FC236}">
                <a16:creationId xmlns:a16="http://schemas.microsoft.com/office/drawing/2014/main" id="{1B7FAAD2-F72C-4CD8-BC5D-4A9E5C21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Ministerio de Salud de Chile. (s. f.). ENSSEX 2022–2023 [Conjunto de datos].</a:t>
            </a:r>
          </a:p>
        </p:txBody>
      </p:sp>
      <p:sp>
        <p:nvSpPr>
          <p:cNvPr id="6" name="texto_117">
            <a:extLst xmlns:a="http://schemas.openxmlformats.org/drawingml/2006/main">
              <a:ext uri="{FF2B5EF4-FFF2-40B4-BE49-F238E27FC236}">
                <a16:creationId xmlns:a16="http://schemas.microsoft.com/office/drawing/2014/main" id="{DC73685C-814E-4827-B04C-8F9398EB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409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Portal de Datos Abiertos. Recurso SAV y metadatos.</a:t>
            </a:r>
          </a:p>
        </p:txBody>
      </p:sp>
      <p:sp>
        <p:nvSpPr>
          <p:cNvPr id="7" name="texto_118">
            <a:extLst xmlns:a="http://schemas.openxmlformats.org/drawingml/2006/main">
              <a:ext uri="{FF2B5EF4-FFF2-40B4-BE49-F238E27FC236}">
                <a16:creationId xmlns:a16="http://schemas.microsoft.com/office/drawing/2014/main" id="{A21AC9F8-5CB1-4298-A3AD-8021ED7A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9375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Ministerio de Salud de Chile. (2022). Cuestionario ENSSEX 2022–2023.</a:t>
            </a:r>
          </a:p>
        </p:txBody>
      </p:sp>
      <p:sp>
        <p:nvSpPr>
          <p:cNvPr id="8" name="texto_119">
            <a:extLst xmlns:a="http://schemas.openxmlformats.org/drawingml/2006/main">
              <a:ext uri="{FF2B5EF4-FFF2-40B4-BE49-F238E27FC236}">
                <a16:creationId xmlns:a16="http://schemas.microsoft.com/office/drawing/2014/main" id="{DAE27320-3A75-4C18-8FF6-1FB3CACD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76575"/>
            <a:ext cx="1409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Preguntas, condiciones de aplicación y respuestas, especialmente pp. 22–24.</a:t>
            </a:r>
          </a:p>
        </p:txBody>
      </p:sp>
      <p:sp>
        <p:nvSpPr>
          <p:cNvPr id="9" name="texto_120">
            <a:extLst xmlns:a="http://schemas.openxmlformats.org/drawingml/2006/main">
              <a:ext uri="{FF2B5EF4-FFF2-40B4-BE49-F238E27FC236}">
                <a16:creationId xmlns:a16="http://schemas.microsoft.com/office/drawing/2014/main" id="{57F47122-2875-41D0-9614-FF1882AE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Ministerio de Salud de Chile. (2022). Manual de uso y libro de códigos ENSSEX.</a:t>
            </a:r>
          </a:p>
        </p:txBody>
      </p:sp>
      <p:sp>
        <p:nvSpPr>
          <p:cNvPr id="10" name="texto_121">
            <a:extLst xmlns:a="http://schemas.openxmlformats.org/drawingml/2006/main">
              <a:ext uri="{FF2B5EF4-FFF2-40B4-BE49-F238E27FC236}">
                <a16:creationId xmlns:a16="http://schemas.microsoft.com/office/drawing/2014/main" id="{36A64649-F8B6-4D14-B3BC-138AC6C5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1409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Significado de las variables y consideraciones de diseño y análisis.</a:t>
            </a:r>
          </a:p>
        </p:txBody>
      </p:sp>
      <p:sp>
        <p:nvSpPr>
          <p:cNvPr id="11" name="texto_122">
            <a:extLst xmlns:a="http://schemas.openxmlformats.org/drawingml/2006/main">
              <a:ext uri="{FF2B5EF4-FFF2-40B4-BE49-F238E27FC236}">
                <a16:creationId xmlns:a16="http://schemas.microsoft.com/office/drawing/2014/main" id="{C2AEEF90-33B1-4CB8-9D38-966AB467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95825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Universidad Andrés Bello. (s. f.). Guía de desarrollo, Sumativa 1, Fases 1 y 2.</a:t>
            </a:r>
          </a:p>
        </p:txBody>
      </p:sp>
      <p:sp>
        <p:nvSpPr>
          <p:cNvPr id="12" name="texto_123">
            <a:extLst xmlns:a="http://schemas.openxmlformats.org/drawingml/2006/main">
              <a:ext uri="{FF2B5EF4-FFF2-40B4-BE49-F238E27FC236}">
                <a16:creationId xmlns:a16="http://schemas.microsoft.com/office/drawing/2014/main" id="{946038E5-A0F2-4655-9D2C-55C34489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53025"/>
            <a:ext cx="1409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Apartado 4.14 y rúbrica de Canvas: vinculación explícita de mapa e implementación.</a:t>
            </a:r>
          </a:p>
        </p:txBody>
      </p:sp>
      <p:sp>
        <p:nvSpPr>
          <p:cNvPr id="13" name="texto_124">
            <a:extLst xmlns:a="http://schemas.openxmlformats.org/drawingml/2006/main">
              <a:ext uri="{FF2B5EF4-FFF2-40B4-BE49-F238E27FC236}">
                <a16:creationId xmlns:a16="http://schemas.microsoft.com/office/drawing/2014/main" id="{30E9882E-885F-416C-9B0D-6CCD2559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Grupo 9. (2026). Mapa conceptual de la Formativa 1 y proyecto ENSSEX.</a:t>
            </a:r>
          </a:p>
        </p:txBody>
      </p:sp>
      <p:sp>
        <p:nvSpPr>
          <p:cNvPr id="14" name="texto_125">
            <a:extLst xmlns:a="http://schemas.openxmlformats.org/drawingml/2006/main">
              <a:ext uri="{FF2B5EF4-FFF2-40B4-BE49-F238E27FC236}">
                <a16:creationId xmlns:a16="http://schemas.microsoft.com/office/drawing/2014/main" id="{E6BD6754-97BE-4CF0-A1F7-5721C546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477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526477"/>
                </a:solidFill>
                <a:latin typeface="Calibri"/>
                <a:ea typeface="Calibri"/>
                <a:cs typeface="Calibri"/>
              </a:rPr>
              <a:t>Antecedente original y evidencia versionada de F1, F2 y la reproducción.</a:t>
            </a:r>
          </a:p>
        </p:txBody>
      </p:sp>
      <p:sp>
        <p:nvSpPr>
          <p:cNvPr id="15" name="texto_126">
            <a:extLst xmlns:a="http://schemas.openxmlformats.org/drawingml/2006/main">
              <a:ext uri="{FF2B5EF4-FFF2-40B4-BE49-F238E27FC236}">
                <a16:creationId xmlns:a16="http://schemas.microsoft.com/office/drawing/2014/main" id="{58815571-7C4B-43CC-8565-6CE0B439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19925"/>
            <a:ext cx="140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Datos: https://datos.gob.cl/dataset/encuesta-nacional-de-salud-sexualidad-y-genero-enssex-2022-2023</a:t>
            </a:r>
          </a:p>
        </p:txBody>
      </p:sp>
      <p:sp>
        <p:nvSpPr>
          <p:cNvPr id="16" name="texto_127">
            <a:extLst xmlns:a="http://schemas.openxmlformats.org/drawingml/2006/main">
              <a:ext uri="{FF2B5EF4-FFF2-40B4-BE49-F238E27FC236}">
                <a16:creationId xmlns:a16="http://schemas.microsoft.com/office/drawing/2014/main" id="{6C33962D-419E-44A7-A21A-64E0ACDD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58075"/>
            <a:ext cx="140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304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5304B"/>
                </a:solidFill>
                <a:latin typeface="Calibri"/>
                <a:ea typeface="Calibri"/>
                <a:cs typeface="Calibri"/>
              </a:rPr>
              <a:t>Repositorio: https://github.com/gosoriozamora/mcdi500-grupo9-enssex</a:t>
            </a:r>
          </a:p>
        </p:txBody>
      </p:sp>
    </p:spTree>
    <p:extLst>
      <p:ext uri="{BB962C8B-B14F-4D97-AF65-F5344CB8AC3E}">
        <p14:creationId xmlns:p14="http://schemas.microsoft.com/office/powerpoint/2010/main" val="1738694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2026-09-21T01:13:53.5020000Z</dcterms:created>
  <dcterms:modified xsi:type="dcterms:W3CDTF">2026-09-21T01:13:53.5030000Z</dcterms:modified>
</coreProperties>
</file>